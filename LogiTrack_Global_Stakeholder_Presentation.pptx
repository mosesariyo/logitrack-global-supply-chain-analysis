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7.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7" d="100"/>
          <a:sy n="77" d="100"/>
        </p:scale>
        <p:origin x="24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Delay Rate</c:v>
                </c:pt>
              </c:strCache>
            </c:strRef>
          </c:tx>
          <c:spPr>
            <a:solidFill>
              <a:srgbClr val="1B4332"/>
            </a:solidFill>
            <a:effectLst/>
          </c:spPr>
          <c:invertIfNegative val="0"/>
          <c:dPt>
            <c:idx val="0"/>
            <c:invertIfNegative val="0"/>
            <c:bubble3D val="0"/>
            <c:extLst>
              <c:ext xmlns:c16="http://schemas.microsoft.com/office/drawing/2014/chart" uri="{C3380CC4-5D6E-409C-BE32-E72D297353CC}">
                <c16:uniqueId val="{00000001-7D2C-470A-8C51-5721158398AC}"/>
              </c:ext>
            </c:extLst>
          </c:dPt>
          <c:dPt>
            <c:idx val="1"/>
            <c:invertIfNegative val="0"/>
            <c:bubble3D val="0"/>
            <c:spPr>
              <a:solidFill>
                <a:srgbClr val="52796F"/>
              </a:solidFill>
              <a:effectLst/>
            </c:spPr>
            <c:extLst>
              <c:ext xmlns:c16="http://schemas.microsoft.com/office/drawing/2014/chart" uri="{C3380CC4-5D6E-409C-BE32-E72D297353CC}">
                <c16:uniqueId val="{00000003-7D2C-470A-8C51-5721158398AC}"/>
              </c:ext>
            </c:extLst>
          </c:dPt>
          <c:dPt>
            <c:idx val="2"/>
            <c:invertIfNegative val="0"/>
            <c:bubble3D val="0"/>
            <c:spPr>
              <a:solidFill>
                <a:srgbClr val="CAD2C5"/>
              </a:solidFill>
              <a:effectLst/>
            </c:spPr>
            <c:extLst>
              <c:ext xmlns:c16="http://schemas.microsoft.com/office/drawing/2014/chart" uri="{C3380CC4-5D6E-409C-BE32-E72D297353CC}">
                <c16:uniqueId val="{00000005-7D2C-470A-8C51-5721158398AC}"/>
              </c:ext>
            </c:extLst>
          </c:dPt>
          <c:dLbls>
            <c:numFmt formatCode="0.0&quot;%&quot;" sourceLinked="0"/>
            <c:spPr>
              <a:noFill/>
              <a:ln>
                <a:noFill/>
              </a:ln>
              <a:effectLst/>
            </c:spPr>
            <c:txPr>
              <a:bodyPr/>
              <a:lstStyle/>
              <a:p>
                <a:pPr>
                  <a:defRPr sz="1100" b="0" i="0" u="none" strike="noStrike">
                    <a:solidFill>
                      <a:srgbClr val="1B1B1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Warehouse 2</c:v>
                </c:pt>
                <c:pt idx="1">
                  <c:v>Warehouse 3</c:v>
                </c:pt>
                <c:pt idx="2">
                  <c:v>Warehouse 1</c:v>
                </c:pt>
              </c:strCache>
            </c:strRef>
          </c:cat>
          <c:val>
            <c:numRef>
              <c:f>Sheet1!$B$2:$B$4</c:f>
              <c:numCache>
                <c:formatCode>General</c:formatCode>
                <c:ptCount val="3"/>
                <c:pt idx="0">
                  <c:v>46.7</c:v>
                </c:pt>
                <c:pt idx="1">
                  <c:v>28.6</c:v>
                </c:pt>
                <c:pt idx="2">
                  <c:v>23.8</c:v>
                </c:pt>
              </c:numCache>
            </c:numRef>
          </c:val>
          <c:extLst>
            <c:ext xmlns:c16="http://schemas.microsoft.com/office/drawing/2014/chart" uri="{C3380CC4-5D6E-409C-BE32-E72D297353CC}">
              <c16:uniqueId val="{00000006-7D2C-470A-8C51-5721158398AC}"/>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1B1B1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 per shipment</c:v>
                </c:pt>
              </c:strCache>
            </c:strRef>
          </c:tx>
          <c:spPr>
            <a:solidFill>
              <a:srgbClr val="C1272D"/>
            </a:solidFill>
            <a:effectLst/>
          </c:spPr>
          <c:invertIfNegative val="0"/>
          <c:dPt>
            <c:idx val="0"/>
            <c:invertIfNegative val="0"/>
            <c:bubble3D val="0"/>
            <c:extLst>
              <c:ext xmlns:c16="http://schemas.microsoft.com/office/drawing/2014/chart" uri="{C3380CC4-5D6E-409C-BE32-E72D297353CC}">
                <c16:uniqueId val="{00000001-5FDE-4676-82E9-16A02BFC0DA2}"/>
              </c:ext>
            </c:extLst>
          </c:dPt>
          <c:dPt>
            <c:idx val="1"/>
            <c:invertIfNegative val="0"/>
            <c:bubble3D val="0"/>
            <c:spPr>
              <a:solidFill>
                <a:srgbClr val="52796F"/>
              </a:solidFill>
              <a:effectLst/>
            </c:spPr>
            <c:extLst>
              <c:ext xmlns:c16="http://schemas.microsoft.com/office/drawing/2014/chart" uri="{C3380CC4-5D6E-409C-BE32-E72D297353CC}">
                <c16:uniqueId val="{00000003-5FDE-4676-82E9-16A02BFC0DA2}"/>
              </c:ext>
            </c:extLst>
          </c:dPt>
          <c:dPt>
            <c:idx val="2"/>
            <c:invertIfNegative val="0"/>
            <c:bubble3D val="0"/>
            <c:spPr>
              <a:solidFill>
                <a:srgbClr val="52796F"/>
              </a:solidFill>
              <a:effectLst/>
            </c:spPr>
            <c:extLst>
              <c:ext xmlns:c16="http://schemas.microsoft.com/office/drawing/2014/chart" uri="{C3380CC4-5D6E-409C-BE32-E72D297353CC}">
                <c16:uniqueId val="{00000005-5FDE-4676-82E9-16A02BFC0DA2}"/>
              </c:ext>
            </c:extLst>
          </c:dPt>
          <c:dPt>
            <c:idx val="3"/>
            <c:invertIfNegative val="0"/>
            <c:bubble3D val="0"/>
            <c:spPr>
              <a:solidFill>
                <a:srgbClr val="2D6A4F"/>
              </a:solidFill>
              <a:effectLst/>
            </c:spPr>
            <c:extLst>
              <c:ext xmlns:c16="http://schemas.microsoft.com/office/drawing/2014/chart" uri="{C3380CC4-5D6E-409C-BE32-E72D297353CC}">
                <c16:uniqueId val="{00000007-5FDE-4676-82E9-16A02BFC0DA2}"/>
              </c:ext>
            </c:extLst>
          </c:dPt>
          <c:dLbls>
            <c:numFmt formatCode="&quot;£&quot;0.00&quot;K&quot;" sourceLinked="0"/>
            <c:spPr>
              <a:noFill/>
              <a:ln>
                <a:noFill/>
              </a:ln>
              <a:effectLst/>
            </c:spPr>
            <c:txPr>
              <a:bodyPr/>
              <a:lstStyle/>
              <a:p>
                <a:pPr>
                  <a:defRPr sz="1100" b="0" i="0" u="none" strike="noStrike">
                    <a:solidFill>
                      <a:srgbClr val="1B1B1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Road</c:v>
                </c:pt>
                <c:pt idx="1">
                  <c:v>Air</c:v>
                </c:pt>
                <c:pt idx="2">
                  <c:v>Rail</c:v>
                </c:pt>
                <c:pt idx="3">
                  <c:v>Sea</c:v>
                </c:pt>
              </c:strCache>
            </c:strRef>
          </c:cat>
          <c:val>
            <c:numRef>
              <c:f>Sheet1!$B$2:$B$5</c:f>
              <c:numCache>
                <c:formatCode>General</c:formatCode>
                <c:ptCount val="4"/>
                <c:pt idx="0">
                  <c:v>1.65</c:v>
                </c:pt>
                <c:pt idx="1">
                  <c:v>1.36</c:v>
                </c:pt>
                <c:pt idx="2">
                  <c:v>1.36</c:v>
                </c:pt>
                <c:pt idx="3">
                  <c:v>1.3</c:v>
                </c:pt>
              </c:numCache>
            </c:numRef>
          </c:val>
          <c:extLst>
            <c:ext xmlns:c16="http://schemas.microsoft.com/office/drawing/2014/chart" uri="{C3380CC4-5D6E-409C-BE32-E72D297353CC}">
              <c16:uniqueId val="{00000008-5FDE-4676-82E9-16A02BFC0DA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1B1B1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manualLayout>
          <c:layoutTarget val="inner"/>
          <c:xMode val="edge"/>
          <c:yMode val="edge"/>
          <c:x val="0.20973152304560061"/>
          <c:y val="0.13002364066193853"/>
          <c:w val="0.79026847695439939"/>
          <c:h val="0.8699763593380615"/>
        </c:manualLayout>
      </c:layout>
      <c:barChart>
        <c:barDir val="bar"/>
        <c:grouping val="clustered"/>
        <c:varyColors val="0"/>
        <c:ser>
          <c:idx val="0"/>
          <c:order val="0"/>
          <c:tx>
            <c:strRef>
              <c:f>Sheet1!$B$1</c:f>
              <c:strCache>
                <c:ptCount val="1"/>
                <c:pt idx="0">
                  <c:v>Delayed %</c:v>
                </c:pt>
              </c:strCache>
            </c:strRef>
          </c:tx>
          <c:spPr>
            <a:solidFill>
              <a:srgbClr val="C1272D"/>
            </a:solidFill>
            <a:effectLst/>
          </c:spPr>
          <c:invertIfNegative val="0"/>
          <c:dPt>
            <c:idx val="0"/>
            <c:invertIfNegative val="0"/>
            <c:bubble3D val="0"/>
            <c:spPr>
              <a:solidFill>
                <a:srgbClr val="C1272D"/>
              </a:solidFill>
              <a:effectLst/>
            </c:spPr>
            <c:extLst>
              <c:ext xmlns:c16="http://schemas.microsoft.com/office/drawing/2014/chart" uri="{C3380CC4-5D6E-409C-BE32-E72D297353CC}">
                <c16:uniqueId val="{00000001-A63E-4670-B6F8-C3697C2331A2}"/>
              </c:ext>
            </c:extLst>
          </c:dPt>
          <c:dPt>
            <c:idx val="1"/>
            <c:invertIfNegative val="0"/>
            <c:bubble3D val="0"/>
            <c:spPr>
              <a:solidFill>
                <a:srgbClr val="C1272D"/>
              </a:solidFill>
              <a:effectLst/>
            </c:spPr>
            <c:extLst>
              <c:ext xmlns:c16="http://schemas.microsoft.com/office/drawing/2014/chart" uri="{C3380CC4-5D6E-409C-BE32-E72D297353CC}">
                <c16:uniqueId val="{00000003-A63E-4670-B6F8-C3697C2331A2}"/>
              </c:ext>
            </c:extLst>
          </c:dPt>
          <c:dPt>
            <c:idx val="2"/>
            <c:invertIfNegative val="0"/>
            <c:bubble3D val="0"/>
            <c:spPr>
              <a:solidFill>
                <a:srgbClr val="52796F"/>
              </a:solidFill>
              <a:effectLst/>
            </c:spPr>
            <c:extLst>
              <c:ext xmlns:c16="http://schemas.microsoft.com/office/drawing/2014/chart" uri="{C3380CC4-5D6E-409C-BE32-E72D297353CC}">
                <c16:uniqueId val="{00000005-A63E-4670-B6F8-C3697C2331A2}"/>
              </c:ext>
            </c:extLst>
          </c:dPt>
          <c:dPt>
            <c:idx val="3"/>
            <c:invertIfNegative val="0"/>
            <c:bubble3D val="0"/>
            <c:spPr>
              <a:solidFill>
                <a:srgbClr val="52796F"/>
              </a:solidFill>
              <a:effectLst/>
            </c:spPr>
            <c:extLst>
              <c:ext xmlns:c16="http://schemas.microsoft.com/office/drawing/2014/chart" uri="{C3380CC4-5D6E-409C-BE32-E72D297353CC}">
                <c16:uniqueId val="{00000007-A63E-4670-B6F8-C3697C2331A2}"/>
              </c:ext>
            </c:extLst>
          </c:dPt>
          <c:dPt>
            <c:idx val="4"/>
            <c:invertIfNegative val="0"/>
            <c:bubble3D val="0"/>
            <c:spPr>
              <a:solidFill>
                <a:srgbClr val="2D6A4F"/>
              </a:solidFill>
              <a:effectLst/>
            </c:spPr>
            <c:extLst>
              <c:ext xmlns:c16="http://schemas.microsoft.com/office/drawing/2014/chart" uri="{C3380CC4-5D6E-409C-BE32-E72D297353CC}">
                <c16:uniqueId val="{00000009-A63E-4670-B6F8-C3697C2331A2}"/>
              </c:ext>
            </c:extLst>
          </c:dPt>
          <c:dLbls>
            <c:numFmt formatCode="0.0&quot;%&quot;" sourceLinked="0"/>
            <c:spPr>
              <a:noFill/>
              <a:ln>
                <a:noFill/>
              </a:ln>
              <a:effectLst/>
            </c:spPr>
            <c:txPr>
              <a:bodyPr/>
              <a:lstStyle/>
              <a:p>
                <a:pPr>
                  <a:defRPr sz="1050" b="0" i="0" u="none" strike="noStrike">
                    <a:solidFill>
                      <a:srgbClr val="1B1B1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Epsilon Co</c:v>
                </c:pt>
                <c:pt idx="1">
                  <c:v>Gamma Inc</c:v>
                </c:pt>
                <c:pt idx="2">
                  <c:v>Beta Ltd</c:v>
                </c:pt>
                <c:pt idx="3">
                  <c:v>Delta LLC</c:v>
                </c:pt>
                <c:pt idx="4">
                  <c:v>Alpha Corp</c:v>
                </c:pt>
              </c:strCache>
            </c:strRef>
          </c:cat>
          <c:val>
            <c:numRef>
              <c:f>Sheet1!$B$2:$B$6</c:f>
              <c:numCache>
                <c:formatCode>General</c:formatCode>
                <c:ptCount val="5"/>
                <c:pt idx="0">
                  <c:v>50</c:v>
                </c:pt>
                <c:pt idx="1">
                  <c:v>50</c:v>
                </c:pt>
                <c:pt idx="2">
                  <c:v>33.299999999999997</c:v>
                </c:pt>
                <c:pt idx="3">
                  <c:v>30</c:v>
                </c:pt>
                <c:pt idx="4">
                  <c:v>18.8</c:v>
                </c:pt>
              </c:numCache>
            </c:numRef>
          </c:val>
          <c:extLst>
            <c:ext xmlns:c16="http://schemas.microsoft.com/office/drawing/2014/chart" uri="{C3380CC4-5D6E-409C-BE32-E72D297353CC}">
              <c16:uniqueId val="{0000000A-A63E-4670-B6F8-C3697C2331A2}"/>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50" b="0" i="0" u="none" strike="noStrike">
                <a:solidFill>
                  <a:srgbClr val="1B1B1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Delay share</c:v>
                </c:pt>
              </c:strCache>
            </c:strRef>
          </c:tx>
          <c:spPr>
            <a:solidFill>
              <a:srgbClr val="C1272D"/>
            </a:solidFill>
            <a:effectLst/>
          </c:spPr>
          <c:invertIfNegative val="0"/>
          <c:dPt>
            <c:idx val="0"/>
            <c:invertIfNegative val="0"/>
            <c:bubble3D val="0"/>
            <c:extLst>
              <c:ext xmlns:c16="http://schemas.microsoft.com/office/drawing/2014/chart" uri="{C3380CC4-5D6E-409C-BE32-E72D297353CC}">
                <c16:uniqueId val="{00000001-D464-4744-A408-8A5432CC3859}"/>
              </c:ext>
            </c:extLst>
          </c:dPt>
          <c:dPt>
            <c:idx val="1"/>
            <c:invertIfNegative val="0"/>
            <c:bubble3D val="0"/>
            <c:spPr>
              <a:solidFill>
                <a:srgbClr val="52796F"/>
              </a:solidFill>
              <a:effectLst/>
            </c:spPr>
            <c:extLst>
              <c:ext xmlns:c16="http://schemas.microsoft.com/office/drawing/2014/chart" uri="{C3380CC4-5D6E-409C-BE32-E72D297353CC}">
                <c16:uniqueId val="{00000003-D464-4744-A408-8A5432CC3859}"/>
              </c:ext>
            </c:extLst>
          </c:dPt>
          <c:dPt>
            <c:idx val="2"/>
            <c:invertIfNegative val="0"/>
            <c:bubble3D val="0"/>
            <c:spPr>
              <a:solidFill>
                <a:srgbClr val="52796F"/>
              </a:solidFill>
              <a:effectLst/>
            </c:spPr>
            <c:extLst>
              <c:ext xmlns:c16="http://schemas.microsoft.com/office/drawing/2014/chart" uri="{C3380CC4-5D6E-409C-BE32-E72D297353CC}">
                <c16:uniqueId val="{00000005-D464-4744-A408-8A5432CC3859}"/>
              </c:ext>
            </c:extLst>
          </c:dPt>
          <c:dPt>
            <c:idx val="3"/>
            <c:invertIfNegative val="0"/>
            <c:bubble3D val="0"/>
            <c:spPr>
              <a:solidFill>
                <a:srgbClr val="2D6A4F"/>
              </a:solidFill>
              <a:effectLst/>
            </c:spPr>
            <c:extLst>
              <c:ext xmlns:c16="http://schemas.microsoft.com/office/drawing/2014/chart" uri="{C3380CC4-5D6E-409C-BE32-E72D297353CC}">
                <c16:uniqueId val="{00000007-D464-4744-A408-8A5432CC3859}"/>
              </c:ext>
            </c:extLst>
          </c:dPt>
          <c:dPt>
            <c:idx val="4"/>
            <c:invertIfNegative val="0"/>
            <c:bubble3D val="0"/>
            <c:spPr>
              <a:solidFill>
                <a:srgbClr val="2D6A4F"/>
              </a:solidFill>
              <a:effectLst/>
            </c:spPr>
            <c:extLst>
              <c:ext xmlns:c16="http://schemas.microsoft.com/office/drawing/2014/chart" uri="{C3380CC4-5D6E-409C-BE32-E72D297353CC}">
                <c16:uniqueId val="{00000009-D464-4744-A408-8A5432CC3859}"/>
              </c:ext>
            </c:extLst>
          </c:dPt>
          <c:dLbls>
            <c:numFmt formatCode="0.0&quot;%&quot;" sourceLinked="0"/>
            <c:spPr>
              <a:noFill/>
              <a:ln>
                <a:noFill/>
              </a:ln>
              <a:effectLst/>
            </c:spPr>
            <c:txPr>
              <a:bodyPr/>
              <a:lstStyle/>
              <a:p>
                <a:pPr>
                  <a:defRPr sz="1050" b="0" i="0" u="none" strike="noStrike">
                    <a:solidFill>
                      <a:srgbClr val="1B1B1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FastTrans</c:v>
                </c:pt>
                <c:pt idx="1">
                  <c:v>TransEdge</c:v>
                </c:pt>
                <c:pt idx="2">
                  <c:v>ShipSmart</c:v>
                </c:pt>
                <c:pt idx="3">
                  <c:v>LogiQuick</c:v>
                </c:pt>
                <c:pt idx="4">
                  <c:v>FleetPro</c:v>
                </c:pt>
              </c:strCache>
            </c:strRef>
          </c:cat>
          <c:val>
            <c:numRef>
              <c:f>Sheet1!$B$2:$B$6</c:f>
              <c:numCache>
                <c:formatCode>General</c:formatCode>
                <c:ptCount val="5"/>
                <c:pt idx="0">
                  <c:v>45.5</c:v>
                </c:pt>
                <c:pt idx="1">
                  <c:v>40</c:v>
                </c:pt>
                <c:pt idx="2">
                  <c:v>33.299999999999997</c:v>
                </c:pt>
                <c:pt idx="3">
                  <c:v>27.3</c:v>
                </c:pt>
                <c:pt idx="4">
                  <c:v>11.1</c:v>
                </c:pt>
              </c:numCache>
            </c:numRef>
          </c:val>
          <c:extLst>
            <c:ext xmlns:c16="http://schemas.microsoft.com/office/drawing/2014/chart" uri="{C3380CC4-5D6E-409C-BE32-E72D297353CC}">
              <c16:uniqueId val="{0000000A-D464-4744-A408-8A5432CC3859}"/>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50" b="0" i="0" u="none" strike="noStrike">
                <a:solidFill>
                  <a:srgbClr val="1B1B1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stacked"/>
        <c:varyColors val="0"/>
        <c:ser>
          <c:idx val="0"/>
          <c:order val="0"/>
          <c:tx>
            <c:strRef>
              <c:f>Sheet1!$B$1</c:f>
              <c:strCache>
                <c:ptCount val="1"/>
                <c:pt idx="0">
                  <c:v>Delayed</c:v>
                </c:pt>
              </c:strCache>
            </c:strRef>
          </c:tx>
          <c:spPr>
            <a:solidFill>
              <a:srgbClr val="C1272D"/>
            </a:solidFill>
            <a:effectLst/>
          </c:spPr>
          <c:invertIfNegative val="0"/>
          <c:dLbls>
            <c:numFmt formatCode="#,##0" sourceLinked="0"/>
            <c:spPr>
              <a:noFill/>
              <a:ln>
                <a:noFill/>
              </a:ln>
              <a:effectLst/>
            </c:spPr>
            <c:txPr>
              <a:bodyPr/>
              <a:lstStyle/>
              <a:p>
                <a:pPr>
                  <a:defRPr sz="1050" b="0"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c:f>
              <c:strCache>
                <c:ptCount val="1"/>
                <c:pt idx="0">
                  <c:v>Rail</c:v>
                </c:pt>
              </c:strCache>
            </c:strRef>
          </c:cat>
          <c:val>
            <c:numRef>
              <c:f>Sheet1!$B$2:$B$2</c:f>
              <c:numCache>
                <c:formatCode>General</c:formatCode>
                <c:ptCount val="1"/>
                <c:pt idx="0">
                  <c:v>20</c:v>
                </c:pt>
              </c:numCache>
            </c:numRef>
          </c:val>
          <c:extLst>
            <c:ext xmlns:c16="http://schemas.microsoft.com/office/drawing/2014/chart" uri="{C3380CC4-5D6E-409C-BE32-E72D297353CC}">
              <c16:uniqueId val="{00000000-3EF3-4526-ACCA-B5C22DF87F3E}"/>
            </c:ext>
          </c:extLst>
        </c:ser>
        <c:ser>
          <c:idx val="1"/>
          <c:order val="1"/>
          <c:tx>
            <c:strRef>
              <c:f>Sheet1!$C$1</c:f>
              <c:strCache>
                <c:ptCount val="1"/>
                <c:pt idx="0">
                  <c:v>Delivered</c:v>
                </c:pt>
              </c:strCache>
            </c:strRef>
          </c:tx>
          <c:spPr>
            <a:solidFill>
              <a:srgbClr val="1B4332"/>
            </a:solidFill>
            <a:effectLst/>
          </c:spPr>
          <c:invertIfNegative val="0"/>
          <c:dLbls>
            <c:numFmt formatCode="#,##0" sourceLinked="0"/>
            <c:spPr>
              <a:noFill/>
              <a:ln>
                <a:noFill/>
              </a:ln>
              <a:effectLst/>
            </c:spPr>
            <c:txPr>
              <a:bodyPr/>
              <a:lstStyle/>
              <a:p>
                <a:pPr>
                  <a:defRPr sz="1050" b="0"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c:f>
              <c:strCache>
                <c:ptCount val="1"/>
                <c:pt idx="0">
                  <c:v>Rail</c:v>
                </c:pt>
              </c:strCache>
            </c:strRef>
          </c:cat>
          <c:val>
            <c:numRef>
              <c:f>Sheet1!$C$2:$C$2</c:f>
              <c:numCache>
                <c:formatCode>General</c:formatCode>
                <c:ptCount val="1"/>
                <c:pt idx="0">
                  <c:v>20</c:v>
                </c:pt>
              </c:numCache>
            </c:numRef>
          </c:val>
          <c:extLst>
            <c:ext xmlns:c16="http://schemas.microsoft.com/office/drawing/2014/chart" uri="{C3380CC4-5D6E-409C-BE32-E72D297353CC}">
              <c16:uniqueId val="{00000001-3EF3-4526-ACCA-B5C22DF87F3E}"/>
            </c:ext>
          </c:extLst>
        </c:ser>
        <c:ser>
          <c:idx val="2"/>
          <c:order val="2"/>
          <c:tx>
            <c:strRef>
              <c:f>Sheet1!$D$1</c:f>
              <c:strCache>
                <c:ptCount val="1"/>
                <c:pt idx="0">
                  <c:v>In Transit</c:v>
                </c:pt>
              </c:strCache>
            </c:strRef>
          </c:tx>
          <c:spPr>
            <a:solidFill>
              <a:srgbClr val="52796F"/>
            </a:solidFill>
            <a:effectLst/>
          </c:spPr>
          <c:invertIfNegative val="0"/>
          <c:dLbls>
            <c:numFmt formatCode="#,##0" sourceLinked="0"/>
            <c:spPr>
              <a:noFill/>
              <a:ln>
                <a:noFill/>
              </a:ln>
              <a:effectLst/>
            </c:spPr>
            <c:txPr>
              <a:bodyPr/>
              <a:lstStyle/>
              <a:p>
                <a:pPr>
                  <a:defRPr sz="1050" b="0"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c:f>
              <c:strCache>
                <c:ptCount val="1"/>
                <c:pt idx="0">
                  <c:v>Rail</c:v>
                </c:pt>
              </c:strCache>
            </c:strRef>
          </c:cat>
          <c:val>
            <c:numRef>
              <c:f>Sheet1!$D$2:$D$2</c:f>
              <c:numCache>
                <c:formatCode>General</c:formatCode>
                <c:ptCount val="1"/>
                <c:pt idx="0">
                  <c:v>30</c:v>
                </c:pt>
              </c:numCache>
            </c:numRef>
          </c:val>
          <c:extLst>
            <c:ext xmlns:c16="http://schemas.microsoft.com/office/drawing/2014/chart" uri="{C3380CC4-5D6E-409C-BE32-E72D297353CC}">
              <c16:uniqueId val="{00000002-3EF3-4526-ACCA-B5C22DF87F3E}"/>
            </c:ext>
          </c:extLst>
        </c:ser>
        <c:ser>
          <c:idx val="3"/>
          <c:order val="3"/>
          <c:tx>
            <c:strRef>
              <c:f>Sheet1!$E$1</c:f>
              <c:strCache>
                <c:ptCount val="1"/>
                <c:pt idx="0">
                  <c:v>Pending</c:v>
                </c:pt>
              </c:strCache>
            </c:strRef>
          </c:tx>
          <c:spPr>
            <a:solidFill>
              <a:srgbClr val="CAD2C5"/>
            </a:solidFill>
            <a:effectLst/>
          </c:spPr>
          <c:invertIfNegative val="0"/>
          <c:dLbls>
            <c:numFmt formatCode="#,##0" sourceLinked="0"/>
            <c:spPr>
              <a:noFill/>
              <a:ln>
                <a:noFill/>
              </a:ln>
              <a:effectLst/>
            </c:spPr>
            <c:txPr>
              <a:bodyPr/>
              <a:lstStyle/>
              <a:p>
                <a:pPr>
                  <a:defRPr sz="1050" b="0"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c:f>
              <c:strCache>
                <c:ptCount val="1"/>
                <c:pt idx="0">
                  <c:v>Rail</c:v>
                </c:pt>
              </c:strCache>
            </c:strRef>
          </c:cat>
          <c:val>
            <c:numRef>
              <c:f>Sheet1!$E$2:$E$2</c:f>
              <c:numCache>
                <c:formatCode>General</c:formatCode>
                <c:ptCount val="1"/>
                <c:pt idx="0">
                  <c:v>30</c:v>
                </c:pt>
              </c:numCache>
            </c:numRef>
          </c:val>
          <c:extLst>
            <c:ext xmlns:c16="http://schemas.microsoft.com/office/drawing/2014/chart" uri="{C3380CC4-5D6E-409C-BE32-E72D297353CC}">
              <c16:uniqueId val="{00000003-3EF3-4526-ACCA-B5C22DF87F3E}"/>
            </c:ext>
          </c:extLst>
        </c:ser>
        <c:dLbls>
          <c:dLblPos val="ctr"/>
          <c:showLegendKey val="0"/>
          <c:showVal val="1"/>
          <c:showCatName val="0"/>
          <c:showSerName val="0"/>
          <c:showPercent val="0"/>
          <c:showBubbleSize val="0"/>
        </c:dLbls>
        <c:gapWidth val="50"/>
        <c:overlap val="100"/>
        <c:axId val="2094734554"/>
        <c:axId val="2094734552"/>
      </c:barChart>
      <c:catAx>
        <c:axId val="2094734554"/>
        <c:scaling>
          <c:orientation val="minMax"/>
        </c:scaling>
        <c:delete val="1"/>
        <c:axPos val="l"/>
        <c:numFmt formatCode="General" sourceLinked="1"/>
        <c:majorTickMark val="out"/>
        <c:minorTickMark val="none"/>
        <c:tickLblPos val="nextTo"/>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legend>
      <c:legendPos val="b"/>
      <c:overlay val="0"/>
      <c:txPr>
        <a:bodyPr/>
        <a:lstStyle/>
        <a:p>
          <a:pPr>
            <a:defRPr sz="1000">
              <a:solidFill>
                <a:srgbClr val="1B1B1B"/>
              </a:solidFill>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Shipments</c:v>
                </c:pt>
              </c:strCache>
            </c:strRef>
          </c:tx>
          <c:spPr>
            <a:solidFill>
              <a:srgbClr val="52796F"/>
            </a:solidFill>
            <a:effectLst/>
          </c:spPr>
          <c:invertIfNegative val="0"/>
          <c:dPt>
            <c:idx val="0"/>
            <c:invertIfNegative val="0"/>
            <c:bubble3D val="0"/>
            <c:extLst>
              <c:ext xmlns:c16="http://schemas.microsoft.com/office/drawing/2014/chart" uri="{C3380CC4-5D6E-409C-BE32-E72D297353CC}">
                <c16:uniqueId val="{00000001-09D0-47F1-9223-B83DA8398BE9}"/>
              </c:ext>
            </c:extLst>
          </c:dPt>
          <c:dPt>
            <c:idx val="1"/>
            <c:invertIfNegative val="0"/>
            <c:bubble3D val="0"/>
            <c:extLst>
              <c:ext xmlns:c16="http://schemas.microsoft.com/office/drawing/2014/chart" uri="{C3380CC4-5D6E-409C-BE32-E72D297353CC}">
                <c16:uniqueId val="{00000003-09D0-47F1-9223-B83DA8398BE9}"/>
              </c:ext>
            </c:extLst>
          </c:dPt>
          <c:dPt>
            <c:idx val="2"/>
            <c:invertIfNegative val="0"/>
            <c:bubble3D val="0"/>
            <c:spPr>
              <a:solidFill>
                <a:srgbClr val="CAD2C5"/>
              </a:solidFill>
              <a:effectLst/>
            </c:spPr>
            <c:extLst>
              <c:ext xmlns:c16="http://schemas.microsoft.com/office/drawing/2014/chart" uri="{C3380CC4-5D6E-409C-BE32-E72D297353CC}">
                <c16:uniqueId val="{00000005-09D0-47F1-9223-B83DA8398BE9}"/>
              </c:ext>
            </c:extLst>
          </c:dPt>
          <c:dPt>
            <c:idx val="3"/>
            <c:invertIfNegative val="0"/>
            <c:bubble3D val="0"/>
            <c:spPr>
              <a:solidFill>
                <a:srgbClr val="CAD2C5"/>
              </a:solidFill>
              <a:effectLst/>
            </c:spPr>
            <c:extLst>
              <c:ext xmlns:c16="http://schemas.microsoft.com/office/drawing/2014/chart" uri="{C3380CC4-5D6E-409C-BE32-E72D297353CC}">
                <c16:uniqueId val="{00000007-09D0-47F1-9223-B83DA8398BE9}"/>
              </c:ext>
            </c:extLst>
          </c:dPt>
          <c:dLbls>
            <c:numFmt formatCode="#,##0" sourceLinked="0"/>
            <c:spPr>
              <a:noFill/>
              <a:ln>
                <a:noFill/>
              </a:ln>
              <a:effectLst/>
            </c:spPr>
            <c:txPr>
              <a:bodyPr/>
              <a:lstStyle/>
              <a:p>
                <a:pPr>
                  <a:defRPr sz="1100" b="0" i="0" u="none" strike="noStrike">
                    <a:solidFill>
                      <a:srgbClr val="1B1B1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Road</c:v>
                </c:pt>
                <c:pt idx="1">
                  <c:v>Air</c:v>
                </c:pt>
                <c:pt idx="2">
                  <c:v>Rail</c:v>
                </c:pt>
                <c:pt idx="3">
                  <c:v>Sea</c:v>
                </c:pt>
              </c:strCache>
            </c:strRef>
          </c:cat>
          <c:val>
            <c:numRef>
              <c:f>Sheet1!$B$2:$B$5</c:f>
              <c:numCache>
                <c:formatCode>General</c:formatCode>
                <c:ptCount val="4"/>
                <c:pt idx="0">
                  <c:v>4</c:v>
                </c:pt>
                <c:pt idx="1">
                  <c:v>4</c:v>
                </c:pt>
                <c:pt idx="2">
                  <c:v>2</c:v>
                </c:pt>
                <c:pt idx="3">
                  <c:v>1</c:v>
                </c:pt>
              </c:numCache>
            </c:numRef>
          </c:val>
          <c:extLst>
            <c:ext xmlns:c16="http://schemas.microsoft.com/office/drawing/2014/chart" uri="{C3380CC4-5D6E-409C-BE32-E72D297353CC}">
              <c16:uniqueId val="{00000008-09D0-47F1-9223-B83DA8398BE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1B1B1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596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32"/>
        </a:solidFill>
        <a:effectLst/>
      </p:bgPr>
    </p:bg>
    <p:spTree>
      <p:nvGrpSpPr>
        <p:cNvPr id="1" name=""/>
        <p:cNvGrpSpPr/>
        <p:nvPr/>
      </p:nvGrpSpPr>
      <p:grpSpPr>
        <a:xfrm>
          <a:off x="0" y="0"/>
          <a:ext cx="0" cy="0"/>
          <a:chOff x="0" y="0"/>
          <a:chExt cx="0" cy="0"/>
        </a:xfrm>
      </p:grpSpPr>
      <p:sp>
        <p:nvSpPr>
          <p:cNvPr id="8" name="Text 6"/>
          <p:cNvSpPr txBox="1"/>
          <p:nvPr/>
        </p:nvSpPr>
        <p:spPr>
          <a:xfrm>
            <a:off x="822960" y="2331720"/>
            <a:ext cx="9601200" cy="457200"/>
          </a:xfrm>
          <a:prstGeom prst="rect">
            <a:avLst/>
          </a:prstGeom>
          <a:noFill/>
          <a:ln/>
        </p:spPr>
        <p:txBody>
          <a:bodyPr wrap="square" lIns="0" tIns="0" rIns="0" bIns="0" rtlCol="0" anchor="ctr"/>
          <a:lstStyle/>
          <a:p>
            <a:pPr marL="0" indent="0">
              <a:buNone/>
            </a:pPr>
            <a:r>
              <a:rPr lang="en-US" sz="1600" b="1" kern="0" spc="200" dirty="0">
                <a:solidFill>
                  <a:srgbClr val="D9A441"/>
                </a:solidFill>
                <a:latin typeface="Calibri" pitchFamily="34" charset="0"/>
                <a:ea typeface="Calibri" pitchFamily="34" charset="-122"/>
                <a:cs typeface="Calibri" pitchFamily="34" charset="-120"/>
              </a:rPr>
              <a:t>LOGITRACK GLOBAL</a:t>
            </a:r>
            <a:endParaRPr lang="en-US" sz="1600" dirty="0"/>
          </a:p>
        </p:txBody>
      </p:sp>
      <p:sp>
        <p:nvSpPr>
          <p:cNvPr id="9" name="Text 7"/>
          <p:cNvSpPr txBox="1"/>
          <p:nvPr/>
        </p:nvSpPr>
        <p:spPr>
          <a:xfrm>
            <a:off x="777240" y="2743200"/>
            <a:ext cx="9875520" cy="1737360"/>
          </a:xfrm>
          <a:prstGeom prst="rect">
            <a:avLst/>
          </a:prstGeom>
          <a:noFill/>
          <a:ln/>
        </p:spPr>
        <p:txBody>
          <a:bodyPr wrap="square" lIns="0" tIns="0" rIns="0" bIns="0"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Supply Chain &amp; Logistics</a:t>
            </a:r>
            <a:endParaRPr lang="en-US" sz="4000" dirty="0"/>
          </a:p>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Performance Analysis</a:t>
            </a:r>
            <a:endParaRPr lang="en-US" sz="4000" dirty="0"/>
          </a:p>
        </p:txBody>
      </p:sp>
      <p:sp>
        <p:nvSpPr>
          <p:cNvPr id="10" name="Text 8"/>
          <p:cNvSpPr txBox="1"/>
          <p:nvPr/>
        </p:nvSpPr>
        <p:spPr>
          <a:xfrm>
            <a:off x="822960" y="4434840"/>
            <a:ext cx="7772400" cy="365760"/>
          </a:xfrm>
          <a:prstGeom prst="rect">
            <a:avLst/>
          </a:prstGeom>
          <a:noFill/>
          <a:ln/>
        </p:spPr>
        <p:txBody>
          <a:bodyPr wrap="square" lIns="0" tIns="0" rIns="0" bIns="0" rtlCol="0" anchor="ctr"/>
          <a:lstStyle/>
          <a:p>
            <a:pPr marL="0" indent="0">
              <a:buNone/>
            </a:pPr>
            <a:r>
              <a:rPr lang="en-US" sz="1600" i="1" dirty="0">
                <a:solidFill>
                  <a:srgbClr val="CAD2C5"/>
                </a:solidFill>
                <a:latin typeface="Calibri" pitchFamily="34" charset="0"/>
                <a:ea typeface="Calibri" pitchFamily="34" charset="-122"/>
                <a:cs typeface="Calibri" pitchFamily="34" charset="-120"/>
              </a:rPr>
              <a:t>Supply Chain Business Report · June 2025</a:t>
            </a:r>
            <a:endParaRPr lang="en-US" sz="1600" dirty="0"/>
          </a:p>
        </p:txBody>
      </p:sp>
      <p:sp>
        <p:nvSpPr>
          <p:cNvPr id="11" name="Shape 9"/>
          <p:cNvSpPr/>
          <p:nvPr/>
        </p:nvSpPr>
        <p:spPr>
          <a:xfrm>
            <a:off x="822960" y="5029200"/>
            <a:ext cx="2011680" cy="0"/>
          </a:xfrm>
          <a:prstGeom prst="line">
            <a:avLst/>
          </a:prstGeom>
          <a:noFill/>
          <a:ln w="19050">
            <a:solidFill>
              <a:srgbClr val="52796F"/>
            </a:solidFill>
            <a:prstDash val="solid"/>
          </a:ln>
        </p:spPr>
        <p:txBody>
          <a:bodyPr/>
          <a:lstStyle/>
          <a:p>
            <a:endParaRPr lang="en-GB"/>
          </a:p>
        </p:txBody>
      </p:sp>
      <p:sp>
        <p:nvSpPr>
          <p:cNvPr id="12" name="Text 10"/>
          <p:cNvSpPr txBox="1"/>
          <p:nvPr/>
        </p:nvSpPr>
        <p:spPr>
          <a:xfrm>
            <a:off x="822960" y="5166360"/>
            <a:ext cx="731520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Prepared by Moses Ariyo  |  Data Analyst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2011680" cy="329184"/>
          </a:xfrm>
          <a:prstGeom prst="roundRect">
            <a:avLst>
              <a:gd name="adj" fmla="val 50000"/>
            </a:avLst>
          </a:prstGeom>
          <a:solidFill>
            <a:srgbClr val="1B4332"/>
          </a:solidFill>
          <a:ln/>
        </p:spPr>
        <p:txBody>
          <a:bodyPr/>
          <a:lstStyle/>
          <a:p>
            <a:endParaRPr lang="en-GB"/>
          </a:p>
        </p:txBody>
      </p:sp>
      <p:sp>
        <p:nvSpPr>
          <p:cNvPr id="3" name="Text 1"/>
          <p:cNvSpPr txBox="1"/>
          <p:nvPr/>
        </p:nvSpPr>
        <p:spPr>
          <a:xfrm>
            <a:off x="548640" y="502920"/>
            <a:ext cx="201168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CONTEXT</a:t>
            </a:r>
            <a:endParaRPr lang="en-US" sz="1100" dirty="0"/>
          </a:p>
        </p:txBody>
      </p:sp>
      <p:sp>
        <p:nvSpPr>
          <p:cNvPr id="4" name="Text 2"/>
          <p:cNvSpPr txBox="1"/>
          <p:nvPr/>
        </p:nvSpPr>
        <p:spPr>
          <a:xfrm>
            <a:off x="548640" y="960120"/>
            <a:ext cx="8686800" cy="640080"/>
          </a:xfrm>
          <a:prstGeom prst="rect">
            <a:avLst/>
          </a:prstGeom>
          <a:noFill/>
          <a:ln/>
        </p:spPr>
        <p:txBody>
          <a:bodyPr wrap="square" lIns="0" tIns="0" rIns="0" bIns="0" rtlCol="0" anchor="ctr"/>
          <a:lstStyle/>
          <a:p>
            <a:pPr marL="0" indent="0">
              <a:buNone/>
            </a:pPr>
            <a:r>
              <a:rPr lang="en-US" sz="3200" b="1" dirty="0">
                <a:solidFill>
                  <a:srgbClr val="1B4332"/>
                </a:solidFill>
                <a:latin typeface="Cambria" pitchFamily="34" charset="0"/>
                <a:ea typeface="Cambria" pitchFamily="34" charset="-122"/>
                <a:cs typeface="Cambria" pitchFamily="34" charset="-120"/>
              </a:rPr>
              <a:t>The Business Problem</a:t>
            </a:r>
            <a:endParaRPr lang="en-US" sz="3200" dirty="0"/>
          </a:p>
        </p:txBody>
      </p:sp>
      <p:sp>
        <p:nvSpPr>
          <p:cNvPr id="5" name="Text 3"/>
          <p:cNvSpPr txBox="1"/>
          <p:nvPr/>
        </p:nvSpPr>
        <p:spPr>
          <a:xfrm>
            <a:off x="548640" y="1737360"/>
            <a:ext cx="6675120" cy="1737360"/>
          </a:xfrm>
          <a:prstGeom prst="rect">
            <a:avLst/>
          </a:prstGeom>
          <a:noFill/>
          <a:ln/>
        </p:spPr>
        <p:txBody>
          <a:bodyPr wrap="square" lIns="0" tIns="0" rIns="0" bIns="0" rtlCol="0" anchor="ctr"/>
          <a:lstStyle/>
          <a:p>
            <a:pPr marL="0" indent="0">
              <a:lnSpc>
                <a:spcPct val="125000"/>
              </a:lnSpc>
              <a:buNone/>
            </a:pPr>
            <a:r>
              <a:rPr lang="en-US" sz="1500" dirty="0">
                <a:solidFill>
                  <a:srgbClr val="1B1B1B"/>
                </a:solidFill>
                <a:latin typeface="Calibri" pitchFamily="34" charset="0"/>
                <a:ea typeface="Calibri" pitchFamily="34" charset="-122"/>
                <a:cs typeface="Calibri" pitchFamily="34" charset="-120"/>
              </a:rPr>
              <a:t>LogiTrack Global is a mid-sized logistics and supply chain company managing product distribution across multiple warehouses, suppliers, and logistics partners. Despite strong operational activity, delivery reliability, partner performance, and cost efficiency have become growing concerns for management.</a:t>
            </a:r>
            <a:endParaRPr lang="en-US" sz="1500" dirty="0"/>
          </a:p>
        </p:txBody>
      </p:sp>
      <p:sp>
        <p:nvSpPr>
          <p:cNvPr id="6" name="Text 4"/>
          <p:cNvSpPr txBox="1"/>
          <p:nvPr/>
        </p:nvSpPr>
        <p:spPr>
          <a:xfrm>
            <a:off x="548640" y="3657600"/>
            <a:ext cx="3657600" cy="320040"/>
          </a:xfrm>
          <a:prstGeom prst="rect">
            <a:avLst/>
          </a:prstGeom>
          <a:noFill/>
          <a:ln/>
        </p:spPr>
        <p:txBody>
          <a:bodyPr wrap="square" lIns="0" tIns="0" rIns="0" bIns="0" rtlCol="0" anchor="ctr"/>
          <a:lstStyle/>
          <a:p>
            <a:pPr marL="0" indent="0">
              <a:buNone/>
            </a:pPr>
            <a:r>
              <a:rPr lang="en-US" sz="1200" b="1" kern="0" spc="100" dirty="0">
                <a:solidFill>
                  <a:srgbClr val="52796F"/>
                </a:solidFill>
                <a:latin typeface="Calibri" pitchFamily="34" charset="0"/>
                <a:ea typeface="Calibri" pitchFamily="34" charset="-122"/>
                <a:cs typeface="Calibri" pitchFamily="34" charset="-120"/>
              </a:rPr>
              <a:t>MY ROLE</a:t>
            </a:r>
            <a:endParaRPr lang="en-US" sz="1200" dirty="0"/>
          </a:p>
        </p:txBody>
      </p:sp>
      <p:sp>
        <p:nvSpPr>
          <p:cNvPr id="7" name="Text 5"/>
          <p:cNvSpPr txBox="1"/>
          <p:nvPr/>
        </p:nvSpPr>
        <p:spPr>
          <a:xfrm>
            <a:off x="548640" y="3977640"/>
            <a:ext cx="6675120" cy="1097280"/>
          </a:xfrm>
          <a:prstGeom prst="rect">
            <a:avLst/>
          </a:prstGeom>
          <a:noFill/>
          <a:ln/>
        </p:spPr>
        <p:txBody>
          <a:bodyPr wrap="square" lIns="0" tIns="0" rIns="0" bIns="0" rtlCol="0" anchor="ctr"/>
          <a:lstStyle/>
          <a:p>
            <a:pPr marL="0" indent="0">
              <a:lnSpc>
                <a:spcPct val="120000"/>
              </a:lnSpc>
              <a:buNone/>
            </a:pPr>
            <a:r>
              <a:rPr lang="en-US" sz="1400" dirty="0">
                <a:solidFill>
                  <a:srgbClr val="1B1B1B"/>
                </a:solidFill>
                <a:latin typeface="Calibri" pitchFamily="34" charset="0"/>
                <a:ea typeface="Calibri" pitchFamily="34" charset="-122"/>
                <a:cs typeface="Calibri" pitchFamily="34" charset="-120"/>
              </a:rPr>
              <a:t>Brought in as Data Analyst to investigate the drivers of delay and cost inefficiency, build an interactive Power BI dashboard, and deliver actionable recommendations for management.</a:t>
            </a:r>
            <a:endParaRPr lang="en-US" sz="1400" dirty="0"/>
          </a:p>
        </p:txBody>
      </p:sp>
      <p:sp>
        <p:nvSpPr>
          <p:cNvPr id="8" name="Shape 6"/>
          <p:cNvSpPr/>
          <p:nvPr/>
        </p:nvSpPr>
        <p:spPr>
          <a:xfrm>
            <a:off x="7818120" y="960120"/>
            <a:ext cx="3794760" cy="1188720"/>
          </a:xfrm>
          <a:prstGeom prst="roundRect">
            <a:avLst>
              <a:gd name="adj" fmla="val 6154"/>
            </a:avLst>
          </a:prstGeom>
          <a:solidFill>
            <a:srgbClr val="CAD2C5"/>
          </a:solidFill>
          <a:ln/>
          <a:effectLst>
            <a:outerShdw blurRad="76200" dist="25400" dir="5400000" algn="bl" rotWithShape="0">
              <a:srgbClr val="1B4332">
                <a:alpha val="15000"/>
              </a:srgbClr>
            </a:outerShdw>
          </a:effectLst>
        </p:spPr>
        <p:txBody>
          <a:bodyPr/>
          <a:lstStyle/>
          <a:p>
            <a:endParaRPr lang="en-GB"/>
          </a:p>
        </p:txBody>
      </p:sp>
      <p:sp>
        <p:nvSpPr>
          <p:cNvPr id="9" name="Text 7"/>
          <p:cNvSpPr txBox="1"/>
          <p:nvPr/>
        </p:nvSpPr>
        <p:spPr>
          <a:xfrm>
            <a:off x="8046720" y="1069848"/>
            <a:ext cx="3337560" cy="594360"/>
          </a:xfrm>
          <a:prstGeom prst="rect">
            <a:avLst/>
          </a:prstGeom>
          <a:noFill/>
          <a:ln/>
        </p:spPr>
        <p:txBody>
          <a:bodyPr wrap="square" lIns="0" tIns="0" rIns="0" bIns="0" rtlCol="0" anchor="ctr"/>
          <a:lstStyle/>
          <a:p>
            <a:pPr marL="0" indent="0">
              <a:buNone/>
            </a:pPr>
            <a:r>
              <a:rPr lang="en-US" sz="3000" b="1" dirty="0">
                <a:solidFill>
                  <a:srgbClr val="1B4332"/>
                </a:solidFill>
                <a:latin typeface="Cambria" pitchFamily="34" charset="0"/>
                <a:ea typeface="Cambria" pitchFamily="34" charset="-122"/>
                <a:cs typeface="Cambria" pitchFamily="34" charset="-120"/>
              </a:rPr>
              <a:t>50</a:t>
            </a:r>
            <a:endParaRPr lang="en-US" sz="3000" dirty="0"/>
          </a:p>
        </p:txBody>
      </p:sp>
      <p:sp>
        <p:nvSpPr>
          <p:cNvPr id="10" name="Text 8"/>
          <p:cNvSpPr txBox="1"/>
          <p:nvPr/>
        </p:nvSpPr>
        <p:spPr>
          <a:xfrm>
            <a:off x="8046720" y="1737360"/>
            <a:ext cx="3337560" cy="320040"/>
          </a:xfrm>
          <a:prstGeom prst="rect">
            <a:avLst/>
          </a:prstGeom>
          <a:noFill/>
          <a:ln/>
        </p:spPr>
        <p:txBody>
          <a:bodyPr wrap="square" lIns="0" tIns="0" rIns="0" bIns="0" rtlCol="0" anchor="ctr"/>
          <a:lstStyle/>
          <a:p>
            <a:pPr marL="0" indent="0">
              <a:buNone/>
            </a:pPr>
            <a:r>
              <a:rPr lang="en-US" sz="1100" b="1" kern="0" spc="50" dirty="0">
                <a:solidFill>
                  <a:srgbClr val="52796F"/>
                </a:solidFill>
                <a:latin typeface="Calibri" pitchFamily="34" charset="0"/>
                <a:ea typeface="Calibri" pitchFamily="34" charset="-122"/>
                <a:cs typeface="Calibri" pitchFamily="34" charset="-120"/>
              </a:rPr>
              <a:t>RECORDS ANALYZED</a:t>
            </a:r>
            <a:endParaRPr lang="en-US" sz="1100" dirty="0"/>
          </a:p>
        </p:txBody>
      </p:sp>
      <p:sp>
        <p:nvSpPr>
          <p:cNvPr id="11" name="Shape 9"/>
          <p:cNvSpPr/>
          <p:nvPr/>
        </p:nvSpPr>
        <p:spPr>
          <a:xfrm>
            <a:off x="7818120" y="2377440"/>
            <a:ext cx="3794760" cy="1188720"/>
          </a:xfrm>
          <a:prstGeom prst="roundRect">
            <a:avLst>
              <a:gd name="adj" fmla="val 6154"/>
            </a:avLst>
          </a:prstGeom>
          <a:solidFill>
            <a:srgbClr val="CAD2C5"/>
          </a:solidFill>
          <a:ln/>
          <a:effectLst>
            <a:outerShdw blurRad="76200" dist="25400" dir="5400000" algn="bl" rotWithShape="0">
              <a:srgbClr val="1B4332">
                <a:alpha val="15000"/>
              </a:srgbClr>
            </a:outerShdw>
          </a:effectLst>
        </p:spPr>
        <p:txBody>
          <a:bodyPr/>
          <a:lstStyle/>
          <a:p>
            <a:endParaRPr lang="en-GB"/>
          </a:p>
        </p:txBody>
      </p:sp>
      <p:sp>
        <p:nvSpPr>
          <p:cNvPr id="12" name="Text 10"/>
          <p:cNvSpPr txBox="1"/>
          <p:nvPr/>
        </p:nvSpPr>
        <p:spPr>
          <a:xfrm>
            <a:off x="8046720" y="2487168"/>
            <a:ext cx="3337560" cy="594360"/>
          </a:xfrm>
          <a:prstGeom prst="rect">
            <a:avLst/>
          </a:prstGeom>
          <a:noFill/>
          <a:ln/>
        </p:spPr>
        <p:txBody>
          <a:bodyPr wrap="square" lIns="0" tIns="0" rIns="0" bIns="0" rtlCol="0" anchor="ctr"/>
          <a:lstStyle/>
          <a:p>
            <a:pPr marL="0" indent="0">
              <a:buNone/>
            </a:pPr>
            <a:r>
              <a:rPr lang="en-US" sz="3000" b="1" dirty="0">
                <a:solidFill>
                  <a:srgbClr val="1B4332"/>
                </a:solidFill>
                <a:latin typeface="Cambria" pitchFamily="34" charset="0"/>
                <a:ea typeface="Cambria" pitchFamily="34" charset="-122"/>
                <a:cs typeface="Cambria" pitchFamily="34" charset="-120"/>
              </a:rPr>
              <a:t>June 2025</a:t>
            </a:r>
            <a:endParaRPr lang="en-US" sz="3000" dirty="0"/>
          </a:p>
        </p:txBody>
      </p:sp>
      <p:sp>
        <p:nvSpPr>
          <p:cNvPr id="13" name="Text 11"/>
          <p:cNvSpPr txBox="1"/>
          <p:nvPr/>
        </p:nvSpPr>
        <p:spPr>
          <a:xfrm>
            <a:off x="8046720" y="3154680"/>
            <a:ext cx="3337560" cy="320040"/>
          </a:xfrm>
          <a:prstGeom prst="rect">
            <a:avLst/>
          </a:prstGeom>
          <a:noFill/>
          <a:ln/>
        </p:spPr>
        <p:txBody>
          <a:bodyPr wrap="square" lIns="0" tIns="0" rIns="0" bIns="0" rtlCol="0" anchor="ctr"/>
          <a:lstStyle/>
          <a:p>
            <a:pPr marL="0" indent="0">
              <a:buNone/>
            </a:pPr>
            <a:r>
              <a:rPr lang="en-US" sz="1100" b="1" kern="0" spc="50" dirty="0">
                <a:solidFill>
                  <a:srgbClr val="52796F"/>
                </a:solidFill>
                <a:latin typeface="Calibri" pitchFamily="34" charset="0"/>
                <a:ea typeface="Calibri" pitchFamily="34" charset="-122"/>
                <a:cs typeface="Calibri" pitchFamily="34" charset="-120"/>
              </a:rPr>
              <a:t>REPORTING PERIOD</a:t>
            </a:r>
            <a:endParaRPr lang="en-US" sz="1100" dirty="0"/>
          </a:p>
        </p:txBody>
      </p:sp>
      <p:sp>
        <p:nvSpPr>
          <p:cNvPr id="14" name="Shape 12"/>
          <p:cNvSpPr/>
          <p:nvPr/>
        </p:nvSpPr>
        <p:spPr>
          <a:xfrm>
            <a:off x="7818120" y="3794760"/>
            <a:ext cx="3794760" cy="1188720"/>
          </a:xfrm>
          <a:prstGeom prst="roundRect">
            <a:avLst>
              <a:gd name="adj" fmla="val 6154"/>
            </a:avLst>
          </a:prstGeom>
          <a:solidFill>
            <a:srgbClr val="CAD2C5"/>
          </a:solidFill>
          <a:ln/>
          <a:effectLst>
            <a:outerShdw blurRad="76200" dist="25400" dir="5400000" algn="bl" rotWithShape="0">
              <a:srgbClr val="1B4332">
                <a:alpha val="15000"/>
              </a:srgbClr>
            </a:outerShdw>
          </a:effectLst>
        </p:spPr>
        <p:txBody>
          <a:bodyPr/>
          <a:lstStyle/>
          <a:p>
            <a:endParaRPr lang="en-GB"/>
          </a:p>
        </p:txBody>
      </p:sp>
      <p:sp>
        <p:nvSpPr>
          <p:cNvPr id="15" name="Text 13"/>
          <p:cNvSpPr txBox="1"/>
          <p:nvPr/>
        </p:nvSpPr>
        <p:spPr>
          <a:xfrm>
            <a:off x="8046720" y="3904488"/>
            <a:ext cx="3337560" cy="594360"/>
          </a:xfrm>
          <a:prstGeom prst="rect">
            <a:avLst/>
          </a:prstGeom>
          <a:noFill/>
          <a:ln/>
        </p:spPr>
        <p:txBody>
          <a:bodyPr wrap="square" lIns="0" tIns="0" rIns="0" bIns="0" rtlCol="0" anchor="ctr"/>
          <a:lstStyle/>
          <a:p>
            <a:pPr marL="0" indent="0">
              <a:buNone/>
            </a:pPr>
            <a:r>
              <a:rPr lang="en-US" sz="3000" b="1" dirty="0">
                <a:solidFill>
                  <a:srgbClr val="1B4332"/>
                </a:solidFill>
                <a:latin typeface="Cambria" pitchFamily="34" charset="0"/>
                <a:ea typeface="Cambria" pitchFamily="34" charset="-122"/>
                <a:cs typeface="Cambria" pitchFamily="34" charset="-120"/>
              </a:rPr>
              <a:t>10</a:t>
            </a:r>
            <a:endParaRPr lang="en-US" sz="3000" dirty="0"/>
          </a:p>
        </p:txBody>
      </p:sp>
      <p:sp>
        <p:nvSpPr>
          <p:cNvPr id="16" name="Text 14"/>
          <p:cNvSpPr txBox="1"/>
          <p:nvPr/>
        </p:nvSpPr>
        <p:spPr>
          <a:xfrm>
            <a:off x="8046720" y="4572000"/>
            <a:ext cx="3337560" cy="320040"/>
          </a:xfrm>
          <a:prstGeom prst="rect">
            <a:avLst/>
          </a:prstGeom>
          <a:noFill/>
          <a:ln/>
        </p:spPr>
        <p:txBody>
          <a:bodyPr wrap="square" lIns="0" tIns="0" rIns="0" bIns="0" rtlCol="0" anchor="ctr"/>
          <a:lstStyle/>
          <a:p>
            <a:pPr marL="0" indent="0">
              <a:buNone/>
            </a:pPr>
            <a:r>
              <a:rPr lang="en-US" sz="1100" b="1" kern="0" spc="50" dirty="0">
                <a:solidFill>
                  <a:srgbClr val="52796F"/>
                </a:solidFill>
                <a:latin typeface="Calibri" pitchFamily="34" charset="0"/>
                <a:ea typeface="Calibri" pitchFamily="34" charset="-122"/>
                <a:cs typeface="Calibri" pitchFamily="34" charset="-120"/>
              </a:rPr>
              <a:t>DATA FIELDS</a:t>
            </a:r>
            <a:endParaRPr lang="en-US" sz="1100" dirty="0"/>
          </a:p>
        </p:txBody>
      </p:sp>
      <p:sp>
        <p:nvSpPr>
          <p:cNvPr id="17" name="Text 15"/>
          <p:cNvSpPr txBox="1"/>
          <p:nvPr/>
        </p:nvSpPr>
        <p:spPr>
          <a:xfrm>
            <a:off x="45720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LogiTrack Global · Supply Chain &amp; Logistics Performance Analysis</a:t>
            </a:r>
            <a:endParaRPr lang="en-US" sz="900" dirty="0"/>
          </a:p>
        </p:txBody>
      </p:sp>
      <p:sp>
        <p:nvSpPr>
          <p:cNvPr id="18" name="Text 16"/>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2011680" cy="329184"/>
          </a:xfrm>
          <a:prstGeom prst="roundRect">
            <a:avLst>
              <a:gd name="adj" fmla="val 50000"/>
            </a:avLst>
          </a:prstGeom>
          <a:solidFill>
            <a:srgbClr val="1B4332"/>
          </a:solidFill>
          <a:ln/>
        </p:spPr>
        <p:txBody>
          <a:bodyPr/>
          <a:lstStyle/>
          <a:p>
            <a:endParaRPr lang="en-GB"/>
          </a:p>
        </p:txBody>
      </p:sp>
      <p:sp>
        <p:nvSpPr>
          <p:cNvPr id="3" name="Text 1"/>
          <p:cNvSpPr txBox="1"/>
          <p:nvPr/>
        </p:nvSpPr>
        <p:spPr>
          <a:xfrm>
            <a:off x="548640" y="502920"/>
            <a:ext cx="201168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APPROACH</a:t>
            </a:r>
            <a:endParaRPr lang="en-US" sz="1100" dirty="0"/>
          </a:p>
        </p:txBody>
      </p:sp>
      <p:sp>
        <p:nvSpPr>
          <p:cNvPr id="4" name="Text 2"/>
          <p:cNvSpPr txBox="1"/>
          <p:nvPr/>
        </p:nvSpPr>
        <p:spPr>
          <a:xfrm>
            <a:off x="548640" y="960120"/>
            <a:ext cx="9144000" cy="640080"/>
          </a:xfrm>
          <a:prstGeom prst="rect">
            <a:avLst/>
          </a:prstGeom>
          <a:noFill/>
          <a:ln/>
        </p:spPr>
        <p:txBody>
          <a:bodyPr wrap="square" lIns="0" tIns="0" rIns="0" bIns="0" rtlCol="0" anchor="ctr"/>
          <a:lstStyle/>
          <a:p>
            <a:pPr marL="0" indent="0">
              <a:buNone/>
            </a:pPr>
            <a:r>
              <a:rPr lang="en-US" sz="3200" b="1" dirty="0">
                <a:solidFill>
                  <a:srgbClr val="1B4332"/>
                </a:solidFill>
                <a:latin typeface="Cambria" pitchFamily="34" charset="0"/>
                <a:ea typeface="Cambria" pitchFamily="34" charset="-122"/>
                <a:cs typeface="Cambria" pitchFamily="34" charset="-120"/>
              </a:rPr>
              <a:t>Scope, Data &amp; Method</a:t>
            </a:r>
            <a:endParaRPr lang="en-US" sz="3200" dirty="0"/>
          </a:p>
        </p:txBody>
      </p:sp>
      <p:sp>
        <p:nvSpPr>
          <p:cNvPr id="5" name="Shape 3"/>
          <p:cNvSpPr/>
          <p:nvPr/>
        </p:nvSpPr>
        <p:spPr>
          <a:xfrm>
            <a:off x="548640" y="1965960"/>
            <a:ext cx="2606040" cy="3383280"/>
          </a:xfrm>
          <a:prstGeom prst="roundRect">
            <a:avLst>
              <a:gd name="adj" fmla="val 2807"/>
            </a:avLst>
          </a:prstGeom>
          <a:solidFill>
            <a:srgbClr val="1B4332"/>
          </a:solidFill>
          <a:ln/>
        </p:spPr>
        <p:txBody>
          <a:bodyPr/>
          <a:lstStyle/>
          <a:p>
            <a:endParaRPr lang="en-GB"/>
          </a:p>
        </p:txBody>
      </p:sp>
      <p:sp>
        <p:nvSpPr>
          <p:cNvPr id="6" name="Text 4"/>
          <p:cNvSpPr txBox="1"/>
          <p:nvPr/>
        </p:nvSpPr>
        <p:spPr>
          <a:xfrm>
            <a:off x="731520" y="2148840"/>
            <a:ext cx="2240280" cy="548640"/>
          </a:xfrm>
          <a:prstGeom prst="rect">
            <a:avLst/>
          </a:prstGeom>
          <a:noFill/>
          <a:ln/>
        </p:spPr>
        <p:txBody>
          <a:bodyPr wrap="square" lIns="0" tIns="0" rIns="0" bIns="0" rtlCol="0" anchor="ctr"/>
          <a:lstStyle/>
          <a:p>
            <a:pPr marL="0" indent="0">
              <a:buNone/>
            </a:pPr>
            <a:r>
              <a:rPr lang="en-US" sz="2600" b="1" dirty="0">
                <a:solidFill>
                  <a:srgbClr val="D9A441"/>
                </a:solidFill>
                <a:latin typeface="Cambria" pitchFamily="34" charset="0"/>
                <a:ea typeface="Cambria" pitchFamily="34" charset="-122"/>
                <a:cs typeface="Cambria" pitchFamily="34" charset="-120"/>
              </a:rPr>
              <a:t>01</a:t>
            </a:r>
            <a:endParaRPr lang="en-US" sz="2600" dirty="0"/>
          </a:p>
        </p:txBody>
      </p:sp>
      <p:sp>
        <p:nvSpPr>
          <p:cNvPr id="7" name="Text 5"/>
          <p:cNvSpPr txBox="1"/>
          <p:nvPr/>
        </p:nvSpPr>
        <p:spPr>
          <a:xfrm>
            <a:off x="731520" y="2743200"/>
            <a:ext cx="2240280" cy="365760"/>
          </a:xfrm>
          <a:prstGeom prst="rect">
            <a:avLst/>
          </a:prstGeom>
          <a:noFill/>
          <a:ln/>
        </p:spPr>
        <p:txBody>
          <a:bodyPr wrap="square" lIns="0" tIns="0" rIns="0" bIns="0" rtlCol="0" anchor="ctr"/>
          <a:lstStyle/>
          <a:p>
            <a:pPr marL="0" indent="0">
              <a:buNone/>
            </a:pPr>
            <a:r>
              <a:rPr lang="en-US" sz="1500" b="1" kern="0" spc="50" dirty="0">
                <a:solidFill>
                  <a:srgbClr val="FFFFFF"/>
                </a:solidFill>
                <a:latin typeface="Calibri" pitchFamily="34" charset="0"/>
                <a:ea typeface="Calibri" pitchFamily="34" charset="-122"/>
                <a:cs typeface="Calibri" pitchFamily="34" charset="-120"/>
              </a:rPr>
              <a:t>CLEAN</a:t>
            </a:r>
            <a:endParaRPr lang="en-US" sz="1500" dirty="0"/>
          </a:p>
        </p:txBody>
      </p:sp>
      <p:sp>
        <p:nvSpPr>
          <p:cNvPr id="8" name="Text 6"/>
          <p:cNvSpPr txBox="1"/>
          <p:nvPr/>
        </p:nvSpPr>
        <p:spPr>
          <a:xfrm>
            <a:off x="731520" y="3154680"/>
            <a:ext cx="2240280" cy="2011680"/>
          </a:xfrm>
          <a:prstGeom prst="rect">
            <a:avLst/>
          </a:prstGeom>
          <a:noFill/>
          <a:ln/>
        </p:spPr>
        <p:txBody>
          <a:bodyPr wrap="square" lIns="0" tIns="0" rIns="0" bIns="0" rtlCol="0" anchor="ctr"/>
          <a:lstStyle/>
          <a:p>
            <a:pPr marL="0" indent="0">
              <a:lnSpc>
                <a:spcPct val="120000"/>
              </a:lnSpc>
              <a:buNone/>
            </a:pPr>
            <a:r>
              <a:rPr lang="en-US" sz="1150" dirty="0">
                <a:solidFill>
                  <a:srgbClr val="EAF0ED"/>
                </a:solidFill>
                <a:latin typeface="Calibri" pitchFamily="34" charset="0"/>
                <a:ea typeface="Calibri" pitchFamily="34" charset="-122"/>
                <a:cs typeface="Calibri" pitchFamily="34" charset="-120"/>
              </a:rPr>
              <a:t>Loaded and cleaned the Supply Chain Logistics dataset in Power Query — validated data types, formatted dates, and flagged a Delivery Performance status per shipment.</a:t>
            </a:r>
            <a:endParaRPr lang="en-US" sz="1150" dirty="0"/>
          </a:p>
        </p:txBody>
      </p:sp>
      <p:sp>
        <p:nvSpPr>
          <p:cNvPr id="9" name="Shape 7"/>
          <p:cNvSpPr/>
          <p:nvPr/>
        </p:nvSpPr>
        <p:spPr>
          <a:xfrm>
            <a:off x="3383280" y="1965960"/>
            <a:ext cx="2606040" cy="3383280"/>
          </a:xfrm>
          <a:prstGeom prst="roundRect">
            <a:avLst>
              <a:gd name="adj" fmla="val 2807"/>
            </a:avLst>
          </a:prstGeom>
          <a:solidFill>
            <a:srgbClr val="52796F"/>
          </a:solidFill>
          <a:ln/>
        </p:spPr>
        <p:txBody>
          <a:bodyPr/>
          <a:lstStyle/>
          <a:p>
            <a:endParaRPr lang="en-GB"/>
          </a:p>
        </p:txBody>
      </p:sp>
      <p:sp>
        <p:nvSpPr>
          <p:cNvPr id="10" name="Text 8"/>
          <p:cNvSpPr txBox="1"/>
          <p:nvPr/>
        </p:nvSpPr>
        <p:spPr>
          <a:xfrm>
            <a:off x="3566160" y="2148840"/>
            <a:ext cx="2240280" cy="548640"/>
          </a:xfrm>
          <a:prstGeom prst="rect">
            <a:avLst/>
          </a:prstGeom>
          <a:noFill/>
          <a:ln/>
        </p:spPr>
        <p:txBody>
          <a:bodyPr wrap="square" lIns="0" tIns="0" rIns="0" bIns="0" rtlCol="0" anchor="ctr"/>
          <a:lstStyle/>
          <a:p>
            <a:pPr marL="0" indent="0">
              <a:buNone/>
            </a:pPr>
            <a:r>
              <a:rPr lang="en-US" sz="2600" b="1" dirty="0">
                <a:solidFill>
                  <a:srgbClr val="D9A441"/>
                </a:solidFill>
                <a:latin typeface="Cambria" pitchFamily="34" charset="0"/>
                <a:ea typeface="Cambria" pitchFamily="34" charset="-122"/>
                <a:cs typeface="Cambria" pitchFamily="34" charset="-120"/>
              </a:rPr>
              <a:t>02</a:t>
            </a:r>
            <a:endParaRPr lang="en-US" sz="2600" dirty="0"/>
          </a:p>
        </p:txBody>
      </p:sp>
      <p:sp>
        <p:nvSpPr>
          <p:cNvPr id="11" name="Text 9"/>
          <p:cNvSpPr txBox="1"/>
          <p:nvPr/>
        </p:nvSpPr>
        <p:spPr>
          <a:xfrm>
            <a:off x="3566160" y="2743200"/>
            <a:ext cx="2240280" cy="365760"/>
          </a:xfrm>
          <a:prstGeom prst="rect">
            <a:avLst/>
          </a:prstGeom>
          <a:noFill/>
          <a:ln/>
        </p:spPr>
        <p:txBody>
          <a:bodyPr wrap="square" lIns="0" tIns="0" rIns="0" bIns="0" rtlCol="0" anchor="ctr"/>
          <a:lstStyle/>
          <a:p>
            <a:pPr marL="0" indent="0">
              <a:buNone/>
            </a:pPr>
            <a:r>
              <a:rPr lang="en-US" sz="1500" b="1" kern="0" spc="50" dirty="0">
                <a:solidFill>
                  <a:srgbClr val="FFFFFF"/>
                </a:solidFill>
                <a:latin typeface="Calibri" pitchFamily="34" charset="0"/>
                <a:ea typeface="Calibri" pitchFamily="34" charset="-122"/>
                <a:cs typeface="Calibri" pitchFamily="34" charset="-120"/>
              </a:rPr>
              <a:t>MODEL</a:t>
            </a:r>
            <a:endParaRPr lang="en-US" sz="1500" dirty="0"/>
          </a:p>
        </p:txBody>
      </p:sp>
      <p:sp>
        <p:nvSpPr>
          <p:cNvPr id="12" name="Text 10"/>
          <p:cNvSpPr txBox="1"/>
          <p:nvPr/>
        </p:nvSpPr>
        <p:spPr>
          <a:xfrm>
            <a:off x="3566160" y="3154680"/>
            <a:ext cx="2240280" cy="2011680"/>
          </a:xfrm>
          <a:prstGeom prst="rect">
            <a:avLst/>
          </a:prstGeom>
          <a:noFill/>
          <a:ln/>
        </p:spPr>
        <p:txBody>
          <a:bodyPr wrap="square" lIns="0" tIns="0" rIns="0" bIns="0" rtlCol="0" anchor="ctr"/>
          <a:lstStyle/>
          <a:p>
            <a:pPr marL="0" indent="0">
              <a:lnSpc>
                <a:spcPct val="120000"/>
              </a:lnSpc>
              <a:buNone/>
            </a:pPr>
            <a:r>
              <a:rPr lang="en-US" sz="1150" dirty="0">
                <a:solidFill>
                  <a:srgbClr val="EAF0ED"/>
                </a:solidFill>
                <a:latin typeface="Calibri" pitchFamily="34" charset="0"/>
                <a:ea typeface="Calibri" pitchFamily="34" charset="-122"/>
                <a:cs typeface="Calibri" pitchFamily="34" charset="-120"/>
              </a:rPr>
              <a:t>Built core DAX measures: total shipments, quantity, cost, delivery success rate, and delay rate — the foundation for every KPI on the dashboard.</a:t>
            </a:r>
            <a:endParaRPr lang="en-US" sz="1150" dirty="0"/>
          </a:p>
        </p:txBody>
      </p:sp>
      <p:sp>
        <p:nvSpPr>
          <p:cNvPr id="13" name="Shape 11"/>
          <p:cNvSpPr/>
          <p:nvPr/>
        </p:nvSpPr>
        <p:spPr>
          <a:xfrm>
            <a:off x="6217920" y="1965960"/>
            <a:ext cx="2606040" cy="3383280"/>
          </a:xfrm>
          <a:prstGeom prst="roundRect">
            <a:avLst>
              <a:gd name="adj" fmla="val 2807"/>
            </a:avLst>
          </a:prstGeom>
          <a:solidFill>
            <a:srgbClr val="1B4332"/>
          </a:solidFill>
          <a:ln/>
        </p:spPr>
        <p:txBody>
          <a:bodyPr/>
          <a:lstStyle/>
          <a:p>
            <a:endParaRPr lang="en-GB"/>
          </a:p>
        </p:txBody>
      </p:sp>
      <p:sp>
        <p:nvSpPr>
          <p:cNvPr id="14" name="Text 12"/>
          <p:cNvSpPr txBox="1"/>
          <p:nvPr/>
        </p:nvSpPr>
        <p:spPr>
          <a:xfrm>
            <a:off x="6400800" y="2148840"/>
            <a:ext cx="2240280" cy="548640"/>
          </a:xfrm>
          <a:prstGeom prst="rect">
            <a:avLst/>
          </a:prstGeom>
          <a:noFill/>
          <a:ln/>
        </p:spPr>
        <p:txBody>
          <a:bodyPr wrap="square" lIns="0" tIns="0" rIns="0" bIns="0" rtlCol="0" anchor="ctr"/>
          <a:lstStyle/>
          <a:p>
            <a:pPr marL="0" indent="0">
              <a:buNone/>
            </a:pPr>
            <a:r>
              <a:rPr lang="en-US" sz="2600" b="1" dirty="0">
                <a:solidFill>
                  <a:srgbClr val="D9A441"/>
                </a:solidFill>
                <a:latin typeface="Cambria" pitchFamily="34" charset="0"/>
                <a:ea typeface="Cambria" pitchFamily="34" charset="-122"/>
                <a:cs typeface="Cambria" pitchFamily="34" charset="-120"/>
              </a:rPr>
              <a:t>03</a:t>
            </a:r>
            <a:endParaRPr lang="en-US" sz="2600" dirty="0"/>
          </a:p>
        </p:txBody>
      </p:sp>
      <p:sp>
        <p:nvSpPr>
          <p:cNvPr id="15" name="Text 13"/>
          <p:cNvSpPr txBox="1"/>
          <p:nvPr/>
        </p:nvSpPr>
        <p:spPr>
          <a:xfrm>
            <a:off x="6400800" y="2743200"/>
            <a:ext cx="2240280" cy="365760"/>
          </a:xfrm>
          <a:prstGeom prst="rect">
            <a:avLst/>
          </a:prstGeom>
          <a:noFill/>
          <a:ln/>
        </p:spPr>
        <p:txBody>
          <a:bodyPr wrap="square" lIns="0" tIns="0" rIns="0" bIns="0" rtlCol="0" anchor="ctr"/>
          <a:lstStyle/>
          <a:p>
            <a:pPr marL="0" indent="0">
              <a:buNone/>
            </a:pPr>
            <a:r>
              <a:rPr lang="en-US" sz="1500" b="1" kern="0" spc="50" dirty="0">
                <a:solidFill>
                  <a:srgbClr val="FFFFFF"/>
                </a:solidFill>
                <a:latin typeface="Calibri" pitchFamily="34" charset="0"/>
                <a:ea typeface="Calibri" pitchFamily="34" charset="-122"/>
                <a:cs typeface="Calibri" pitchFamily="34" charset="-120"/>
              </a:rPr>
              <a:t>VISUALIZE</a:t>
            </a:r>
            <a:endParaRPr lang="en-US" sz="1500" dirty="0"/>
          </a:p>
        </p:txBody>
      </p:sp>
      <p:sp>
        <p:nvSpPr>
          <p:cNvPr id="16" name="Text 14"/>
          <p:cNvSpPr txBox="1"/>
          <p:nvPr/>
        </p:nvSpPr>
        <p:spPr>
          <a:xfrm>
            <a:off x="6400800" y="3154680"/>
            <a:ext cx="2240280" cy="2011680"/>
          </a:xfrm>
          <a:prstGeom prst="rect">
            <a:avLst/>
          </a:prstGeom>
          <a:noFill/>
          <a:ln/>
        </p:spPr>
        <p:txBody>
          <a:bodyPr wrap="square" lIns="0" tIns="0" rIns="0" bIns="0" rtlCol="0" anchor="ctr"/>
          <a:lstStyle/>
          <a:p>
            <a:pPr marL="0" indent="0">
              <a:lnSpc>
                <a:spcPct val="120000"/>
              </a:lnSpc>
              <a:buNone/>
            </a:pPr>
            <a:r>
              <a:rPr lang="en-US" sz="1150" dirty="0">
                <a:solidFill>
                  <a:srgbClr val="EAF0ED"/>
                </a:solidFill>
                <a:latin typeface="Calibri" pitchFamily="34" charset="0"/>
                <a:ea typeface="Calibri" pitchFamily="34" charset="-122"/>
                <a:cs typeface="Calibri" pitchFamily="34" charset="-120"/>
              </a:rPr>
              <a:t>Designed a two-page Power BI dashboard — an Executive Overview and a Supplier &amp; Logistics Analysis page — to answer all seven business questions.</a:t>
            </a:r>
            <a:endParaRPr lang="en-US" sz="1150" dirty="0"/>
          </a:p>
        </p:txBody>
      </p:sp>
      <p:sp>
        <p:nvSpPr>
          <p:cNvPr id="17" name="Shape 15"/>
          <p:cNvSpPr/>
          <p:nvPr/>
        </p:nvSpPr>
        <p:spPr>
          <a:xfrm>
            <a:off x="9052560" y="1965960"/>
            <a:ext cx="2606040" cy="3383280"/>
          </a:xfrm>
          <a:prstGeom prst="roundRect">
            <a:avLst>
              <a:gd name="adj" fmla="val 2807"/>
            </a:avLst>
          </a:prstGeom>
          <a:solidFill>
            <a:srgbClr val="52796F"/>
          </a:solidFill>
          <a:ln/>
        </p:spPr>
        <p:txBody>
          <a:bodyPr/>
          <a:lstStyle/>
          <a:p>
            <a:endParaRPr lang="en-GB"/>
          </a:p>
        </p:txBody>
      </p:sp>
      <p:sp>
        <p:nvSpPr>
          <p:cNvPr id="18" name="Text 16"/>
          <p:cNvSpPr txBox="1"/>
          <p:nvPr/>
        </p:nvSpPr>
        <p:spPr>
          <a:xfrm>
            <a:off x="9235440" y="2148840"/>
            <a:ext cx="2240280" cy="548640"/>
          </a:xfrm>
          <a:prstGeom prst="rect">
            <a:avLst/>
          </a:prstGeom>
          <a:noFill/>
          <a:ln/>
        </p:spPr>
        <p:txBody>
          <a:bodyPr wrap="square" lIns="0" tIns="0" rIns="0" bIns="0" rtlCol="0" anchor="ctr"/>
          <a:lstStyle/>
          <a:p>
            <a:pPr marL="0" indent="0">
              <a:buNone/>
            </a:pPr>
            <a:r>
              <a:rPr lang="en-US" sz="2600" b="1" dirty="0">
                <a:solidFill>
                  <a:srgbClr val="D9A441"/>
                </a:solidFill>
                <a:latin typeface="Cambria" pitchFamily="34" charset="0"/>
                <a:ea typeface="Cambria" pitchFamily="34" charset="-122"/>
                <a:cs typeface="Cambria" pitchFamily="34" charset="-120"/>
              </a:rPr>
              <a:t>04</a:t>
            </a:r>
            <a:endParaRPr lang="en-US" sz="2600" dirty="0"/>
          </a:p>
        </p:txBody>
      </p:sp>
      <p:sp>
        <p:nvSpPr>
          <p:cNvPr id="19" name="Text 17"/>
          <p:cNvSpPr txBox="1"/>
          <p:nvPr/>
        </p:nvSpPr>
        <p:spPr>
          <a:xfrm>
            <a:off x="9235440" y="2743200"/>
            <a:ext cx="2240280" cy="365760"/>
          </a:xfrm>
          <a:prstGeom prst="rect">
            <a:avLst/>
          </a:prstGeom>
          <a:noFill/>
          <a:ln/>
        </p:spPr>
        <p:txBody>
          <a:bodyPr wrap="square" lIns="0" tIns="0" rIns="0" bIns="0" rtlCol="0" anchor="ctr"/>
          <a:lstStyle/>
          <a:p>
            <a:pPr marL="0" indent="0">
              <a:buNone/>
            </a:pPr>
            <a:r>
              <a:rPr lang="en-US" sz="1500" b="1" kern="0" spc="50" dirty="0">
                <a:solidFill>
                  <a:srgbClr val="FFFFFF"/>
                </a:solidFill>
                <a:latin typeface="Calibri" pitchFamily="34" charset="0"/>
                <a:ea typeface="Calibri" pitchFamily="34" charset="-122"/>
                <a:cs typeface="Calibri" pitchFamily="34" charset="-120"/>
              </a:rPr>
              <a:t>RECOMMEND</a:t>
            </a:r>
            <a:endParaRPr lang="en-US" sz="1500" dirty="0"/>
          </a:p>
        </p:txBody>
      </p:sp>
      <p:sp>
        <p:nvSpPr>
          <p:cNvPr id="20" name="Text 18"/>
          <p:cNvSpPr txBox="1"/>
          <p:nvPr/>
        </p:nvSpPr>
        <p:spPr>
          <a:xfrm>
            <a:off x="9235440" y="3154680"/>
            <a:ext cx="2240280" cy="2011680"/>
          </a:xfrm>
          <a:prstGeom prst="rect">
            <a:avLst/>
          </a:prstGeom>
          <a:noFill/>
          <a:ln/>
        </p:spPr>
        <p:txBody>
          <a:bodyPr wrap="square" lIns="0" tIns="0" rIns="0" bIns="0" rtlCol="0" anchor="ctr"/>
          <a:lstStyle/>
          <a:p>
            <a:pPr marL="0" indent="0">
              <a:lnSpc>
                <a:spcPct val="120000"/>
              </a:lnSpc>
              <a:buNone/>
            </a:pPr>
            <a:r>
              <a:rPr lang="en-US" sz="1150" dirty="0">
                <a:solidFill>
                  <a:srgbClr val="EAF0ED"/>
                </a:solidFill>
                <a:latin typeface="Calibri" pitchFamily="34" charset="0"/>
                <a:ea typeface="Calibri" pitchFamily="34" charset="-122"/>
                <a:cs typeface="Calibri" pitchFamily="34" charset="-120"/>
              </a:rPr>
              <a:t>Investigated patterns across warehouses, suppliers, methods, and partners to surface insights and translate them into concrete recommendations.</a:t>
            </a:r>
            <a:endParaRPr lang="en-US" sz="1150" dirty="0"/>
          </a:p>
        </p:txBody>
      </p:sp>
      <p:sp>
        <p:nvSpPr>
          <p:cNvPr id="21" name="Text 19"/>
          <p:cNvSpPr txBox="1"/>
          <p:nvPr/>
        </p:nvSpPr>
        <p:spPr>
          <a:xfrm>
            <a:off x="548640" y="5623560"/>
            <a:ext cx="7315200" cy="365760"/>
          </a:xfrm>
          <a:prstGeom prst="rect">
            <a:avLst/>
          </a:prstGeom>
          <a:noFill/>
          <a:ln/>
        </p:spPr>
        <p:txBody>
          <a:bodyPr wrap="square" lIns="0" tIns="0" rIns="0" bIns="0" rtlCol="0" anchor="ctr"/>
          <a:lstStyle/>
          <a:p>
            <a:pPr marL="0" indent="0">
              <a:buNone/>
            </a:pPr>
            <a:r>
              <a:rPr lang="en-US" sz="1300" i="1" dirty="0">
                <a:solidFill>
                  <a:srgbClr val="6B7280"/>
                </a:solidFill>
                <a:latin typeface="Calibri" pitchFamily="34" charset="0"/>
                <a:ea typeface="Calibri" pitchFamily="34" charset="-122"/>
                <a:cs typeface="Calibri" pitchFamily="34" charset="-120"/>
              </a:rPr>
              <a:t>Tools: Power BI  ·  Power Query  ·  DAX</a:t>
            </a:r>
            <a:endParaRPr lang="en-US" sz="1300" dirty="0"/>
          </a:p>
        </p:txBody>
      </p:sp>
      <p:sp>
        <p:nvSpPr>
          <p:cNvPr id="22" name="Text 20"/>
          <p:cNvSpPr txBox="1"/>
          <p:nvPr/>
        </p:nvSpPr>
        <p:spPr>
          <a:xfrm>
            <a:off x="45720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LogiTrack Global · Supply Chain &amp; Logistics Performance Analysis</a:t>
            </a:r>
            <a:endParaRPr lang="en-US" sz="900" dirty="0"/>
          </a:p>
        </p:txBody>
      </p:sp>
      <p:sp>
        <p:nvSpPr>
          <p:cNvPr id="23" name="Text 21"/>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011680" cy="329184"/>
          </a:xfrm>
          <a:prstGeom prst="roundRect">
            <a:avLst>
              <a:gd name="adj" fmla="val 50000"/>
            </a:avLst>
          </a:prstGeom>
          <a:solidFill>
            <a:srgbClr val="1B4332"/>
          </a:solidFill>
          <a:ln/>
        </p:spPr>
        <p:txBody>
          <a:bodyPr/>
          <a:lstStyle/>
          <a:p>
            <a:endParaRPr lang="en-GB"/>
          </a:p>
        </p:txBody>
      </p:sp>
      <p:sp>
        <p:nvSpPr>
          <p:cNvPr id="3" name="Text 1"/>
          <p:cNvSpPr txBox="1"/>
          <p:nvPr/>
        </p:nvSpPr>
        <p:spPr>
          <a:xfrm>
            <a:off x="548640" y="457200"/>
            <a:ext cx="201168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DASHBOARD · PAGE 1</a:t>
            </a:r>
            <a:endParaRPr lang="en-US" sz="1100" dirty="0"/>
          </a:p>
        </p:txBody>
      </p:sp>
      <p:sp>
        <p:nvSpPr>
          <p:cNvPr id="4" name="Text 2"/>
          <p:cNvSpPr txBox="1"/>
          <p:nvPr/>
        </p:nvSpPr>
        <p:spPr>
          <a:xfrm>
            <a:off x="548640" y="914400"/>
            <a:ext cx="10515600" cy="594360"/>
          </a:xfrm>
          <a:prstGeom prst="rect">
            <a:avLst/>
          </a:prstGeom>
          <a:noFill/>
          <a:ln/>
        </p:spPr>
        <p:txBody>
          <a:bodyPr wrap="square" lIns="0" tIns="0" rIns="0" bIns="0" rtlCol="0" anchor="ctr"/>
          <a:lstStyle/>
          <a:p>
            <a:pPr marL="0" indent="0">
              <a:buNone/>
            </a:pPr>
            <a:r>
              <a:rPr lang="en-US" sz="2800" b="1" dirty="0">
                <a:solidFill>
                  <a:srgbClr val="1B4332"/>
                </a:solidFill>
                <a:latin typeface="Cambria" pitchFamily="34" charset="0"/>
                <a:ea typeface="Cambria" pitchFamily="34" charset="-122"/>
                <a:cs typeface="Cambria" pitchFamily="34" charset="-120"/>
              </a:rPr>
              <a:t>Executive Overview: The Headline Numbers</a:t>
            </a:r>
            <a:endParaRPr lang="en-US" sz="2800" dirty="0"/>
          </a:p>
        </p:txBody>
      </p:sp>
      <p:sp>
        <p:nvSpPr>
          <p:cNvPr id="5" name="Shape 3"/>
          <p:cNvSpPr/>
          <p:nvPr/>
        </p:nvSpPr>
        <p:spPr>
          <a:xfrm>
            <a:off x="502920" y="1627632"/>
            <a:ext cx="7040880" cy="4269579"/>
          </a:xfrm>
          <a:prstGeom prst="roundRect">
            <a:avLst>
              <a:gd name="adj" fmla="val 1071"/>
            </a:avLst>
          </a:prstGeom>
          <a:solidFill>
            <a:srgbClr val="FFFFFF"/>
          </a:solidFill>
          <a:ln w="12700">
            <a:solidFill>
              <a:srgbClr val="CAD2C5"/>
            </a:solidFill>
            <a:prstDash val="solid"/>
          </a:ln>
          <a:effectLst>
            <a:outerShdw blurRad="101600" dist="38100" dir="5400000" algn="bl" rotWithShape="0">
              <a:srgbClr val="1B4332">
                <a:alpha val="18000"/>
              </a:srgbClr>
            </a:outerShdw>
          </a:effectLst>
        </p:spPr>
        <p:txBody>
          <a:bodyPr/>
          <a:lstStyle/>
          <a:p>
            <a:endParaRPr lang="en-GB"/>
          </a:p>
        </p:txBody>
      </p:sp>
      <p:sp>
        <p:nvSpPr>
          <p:cNvPr id="7" name="Shape 4"/>
          <p:cNvSpPr/>
          <p:nvPr/>
        </p:nvSpPr>
        <p:spPr>
          <a:xfrm>
            <a:off x="7818120" y="1627632"/>
            <a:ext cx="3840480" cy="1371600"/>
          </a:xfrm>
          <a:prstGeom prst="roundRect">
            <a:avLst>
              <a:gd name="adj" fmla="val 5333"/>
            </a:avLst>
          </a:prstGeom>
          <a:solidFill>
            <a:srgbClr val="C1272D"/>
          </a:solidFill>
          <a:ln/>
        </p:spPr>
        <p:txBody>
          <a:bodyPr/>
          <a:lstStyle/>
          <a:p>
            <a:endParaRPr lang="en-GB"/>
          </a:p>
        </p:txBody>
      </p:sp>
      <p:sp>
        <p:nvSpPr>
          <p:cNvPr id="8" name="Text 5"/>
          <p:cNvSpPr txBox="1"/>
          <p:nvPr/>
        </p:nvSpPr>
        <p:spPr>
          <a:xfrm>
            <a:off x="8046720" y="1691640"/>
            <a:ext cx="3383280" cy="77724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32%</a:t>
            </a:r>
            <a:endParaRPr lang="en-US" sz="4200" dirty="0"/>
          </a:p>
        </p:txBody>
      </p:sp>
      <p:sp>
        <p:nvSpPr>
          <p:cNvPr id="9" name="Text 6"/>
          <p:cNvSpPr txBox="1"/>
          <p:nvPr/>
        </p:nvSpPr>
        <p:spPr>
          <a:xfrm>
            <a:off x="8046720" y="2423160"/>
            <a:ext cx="3383280" cy="502920"/>
          </a:xfrm>
          <a:prstGeom prst="rect">
            <a:avLst/>
          </a:prstGeom>
          <a:noFill/>
          <a:ln/>
        </p:spPr>
        <p:txBody>
          <a:bodyPr wrap="square" lIns="0" tIns="0" rIns="0" bIns="0" rtlCol="0" anchor="ctr"/>
          <a:lstStyle/>
          <a:p>
            <a:pPr marL="0" indent="0">
              <a:buNone/>
            </a:pPr>
            <a:r>
              <a:rPr lang="en-US" sz="1200" b="1" kern="0" spc="50" dirty="0">
                <a:solidFill>
                  <a:srgbClr val="FBD9D9"/>
                </a:solidFill>
                <a:latin typeface="Calibri" pitchFamily="34" charset="0"/>
                <a:ea typeface="Calibri" pitchFamily="34" charset="-122"/>
                <a:cs typeface="Calibri" pitchFamily="34" charset="-120"/>
              </a:rPr>
              <a:t>OF ALL SHIPMENTS ARE DELAYED</a:t>
            </a:r>
            <a:endParaRPr lang="en-US" sz="1200" dirty="0"/>
          </a:p>
        </p:txBody>
      </p:sp>
      <p:sp>
        <p:nvSpPr>
          <p:cNvPr id="10" name="Shape 7"/>
          <p:cNvSpPr/>
          <p:nvPr/>
        </p:nvSpPr>
        <p:spPr>
          <a:xfrm>
            <a:off x="7818120" y="3182112"/>
            <a:ext cx="3840480" cy="1371600"/>
          </a:xfrm>
          <a:prstGeom prst="roundRect">
            <a:avLst>
              <a:gd name="adj" fmla="val 5333"/>
            </a:avLst>
          </a:prstGeom>
          <a:solidFill>
            <a:srgbClr val="CAD2C5"/>
          </a:solidFill>
          <a:ln/>
        </p:spPr>
        <p:txBody>
          <a:bodyPr/>
          <a:lstStyle/>
          <a:p>
            <a:endParaRPr lang="en-GB"/>
          </a:p>
        </p:txBody>
      </p:sp>
      <p:sp>
        <p:nvSpPr>
          <p:cNvPr id="11" name="Text 8"/>
          <p:cNvSpPr txBox="1"/>
          <p:nvPr/>
        </p:nvSpPr>
        <p:spPr>
          <a:xfrm>
            <a:off x="8046720" y="3246120"/>
            <a:ext cx="3383280" cy="777240"/>
          </a:xfrm>
          <a:prstGeom prst="rect">
            <a:avLst/>
          </a:prstGeom>
          <a:noFill/>
          <a:ln/>
        </p:spPr>
        <p:txBody>
          <a:bodyPr wrap="square" lIns="0" tIns="0" rIns="0" bIns="0" rtlCol="0" anchor="ctr"/>
          <a:lstStyle/>
          <a:p>
            <a:pPr marL="0" indent="0">
              <a:buNone/>
            </a:pPr>
            <a:r>
              <a:rPr lang="en-US" sz="3800" b="1" dirty="0">
                <a:solidFill>
                  <a:srgbClr val="1B4332"/>
                </a:solidFill>
                <a:latin typeface="Cambria" pitchFamily="34" charset="0"/>
                <a:ea typeface="Cambria" pitchFamily="34" charset="-122"/>
                <a:cs typeface="Cambria" pitchFamily="34" charset="-120"/>
              </a:rPr>
              <a:t>£72.55K</a:t>
            </a:r>
            <a:endParaRPr lang="en-US" sz="3800" dirty="0"/>
          </a:p>
        </p:txBody>
      </p:sp>
      <p:sp>
        <p:nvSpPr>
          <p:cNvPr id="12" name="Text 9"/>
          <p:cNvSpPr txBox="1"/>
          <p:nvPr/>
        </p:nvSpPr>
        <p:spPr>
          <a:xfrm>
            <a:off x="8046720" y="3977640"/>
            <a:ext cx="3383280" cy="502920"/>
          </a:xfrm>
          <a:prstGeom prst="rect">
            <a:avLst/>
          </a:prstGeom>
          <a:noFill/>
          <a:ln/>
        </p:spPr>
        <p:txBody>
          <a:bodyPr wrap="square" lIns="0" tIns="0" rIns="0" bIns="0" rtlCol="0" anchor="ctr"/>
          <a:lstStyle/>
          <a:p>
            <a:pPr marL="0" indent="0">
              <a:buNone/>
            </a:pPr>
            <a:r>
              <a:rPr lang="en-US" sz="1200" b="1" kern="0" spc="50" dirty="0">
                <a:solidFill>
                  <a:srgbClr val="52796F"/>
                </a:solidFill>
                <a:latin typeface="Calibri" pitchFamily="34" charset="0"/>
                <a:ea typeface="Calibri" pitchFamily="34" charset="-122"/>
                <a:cs typeface="Calibri" pitchFamily="34" charset="-120"/>
              </a:rPr>
              <a:t>TOTAL SHIPMENT VALUE ACROSS 50 ORDERS</a:t>
            </a:r>
            <a:endParaRPr lang="en-US" sz="1200" dirty="0"/>
          </a:p>
        </p:txBody>
      </p:sp>
      <p:sp>
        <p:nvSpPr>
          <p:cNvPr id="13" name="Text 10"/>
          <p:cNvSpPr txBox="1"/>
          <p:nvPr/>
        </p:nvSpPr>
        <p:spPr>
          <a:xfrm>
            <a:off x="7818120" y="4736592"/>
            <a:ext cx="3840480" cy="1280160"/>
          </a:xfrm>
          <a:prstGeom prst="rect">
            <a:avLst/>
          </a:prstGeom>
          <a:noFill/>
          <a:ln/>
        </p:spPr>
        <p:txBody>
          <a:bodyPr wrap="square" lIns="0" tIns="0" rIns="0" bIns="0" rtlCol="0" anchor="ctr"/>
          <a:lstStyle/>
          <a:p>
            <a:pPr marL="0" indent="0">
              <a:lnSpc>
                <a:spcPct val="125000"/>
              </a:lnSpc>
              <a:buNone/>
            </a:pPr>
            <a:r>
              <a:rPr lang="en-US" sz="1300" i="1" dirty="0">
                <a:solidFill>
                  <a:srgbClr val="1B1B1B"/>
                </a:solidFill>
                <a:latin typeface="Calibri" pitchFamily="34" charset="0"/>
                <a:ea typeface="Calibri" pitchFamily="34" charset="-122"/>
                <a:cs typeface="Calibri" pitchFamily="34" charset="-120"/>
              </a:rPr>
              <a:t>So what: nearly 1 in 3 shipments arrives late — the rest of this report investigates where that risk concentrates and what to do about it.</a:t>
            </a:r>
            <a:endParaRPr lang="en-US" sz="1300" dirty="0"/>
          </a:p>
        </p:txBody>
      </p:sp>
      <p:sp>
        <p:nvSpPr>
          <p:cNvPr id="14" name="Text 11"/>
          <p:cNvSpPr txBox="1"/>
          <p:nvPr/>
        </p:nvSpPr>
        <p:spPr>
          <a:xfrm>
            <a:off x="45720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LogiTrack Global · Supply Chain &amp; Logistics Performance Analysis</a:t>
            </a:r>
            <a:endParaRPr lang="en-US" sz="900" dirty="0"/>
          </a:p>
        </p:txBody>
      </p:sp>
      <p:sp>
        <p:nvSpPr>
          <p:cNvPr id="15" name="Text 12"/>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pic>
        <p:nvPicPr>
          <p:cNvPr id="17" name="Picture 16">
            <a:extLst>
              <a:ext uri="{FF2B5EF4-FFF2-40B4-BE49-F238E27FC236}">
                <a16:creationId xmlns:a16="http://schemas.microsoft.com/office/drawing/2014/main" id="{FB7CD770-D293-7B8C-2FE3-65189DD751D5}"/>
              </a:ext>
            </a:extLst>
          </p:cNvPr>
          <p:cNvPicPr>
            <a:picLocks noChangeAspect="1"/>
          </p:cNvPicPr>
          <p:nvPr/>
        </p:nvPicPr>
        <p:blipFill>
          <a:blip r:embed="rId3"/>
          <a:stretch>
            <a:fillRect/>
          </a:stretch>
        </p:blipFill>
        <p:spPr>
          <a:xfrm>
            <a:off x="502920" y="1627632"/>
            <a:ext cx="7040880" cy="420790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011680" cy="329184"/>
          </a:xfrm>
          <a:prstGeom prst="roundRect">
            <a:avLst>
              <a:gd name="adj" fmla="val 50000"/>
            </a:avLst>
          </a:prstGeom>
          <a:solidFill>
            <a:srgbClr val="52796F"/>
          </a:solidFill>
          <a:ln/>
        </p:spPr>
        <p:txBody>
          <a:bodyPr/>
          <a:lstStyle/>
          <a:p>
            <a:endParaRPr lang="en-GB"/>
          </a:p>
        </p:txBody>
      </p:sp>
      <p:sp>
        <p:nvSpPr>
          <p:cNvPr id="3" name="Text 1"/>
          <p:cNvSpPr txBox="1"/>
          <p:nvPr/>
        </p:nvSpPr>
        <p:spPr>
          <a:xfrm>
            <a:off x="548640" y="457200"/>
            <a:ext cx="201168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INSIGHT 1 &amp; 2</a:t>
            </a:r>
            <a:endParaRPr lang="en-US" sz="1100" dirty="0"/>
          </a:p>
        </p:txBody>
      </p:sp>
      <p:sp>
        <p:nvSpPr>
          <p:cNvPr id="4" name="Text 2"/>
          <p:cNvSpPr txBox="1"/>
          <p:nvPr/>
        </p:nvSpPr>
        <p:spPr>
          <a:xfrm>
            <a:off x="548640" y="914400"/>
            <a:ext cx="10789920" cy="914400"/>
          </a:xfrm>
          <a:prstGeom prst="rect">
            <a:avLst/>
          </a:prstGeom>
          <a:noFill/>
          <a:ln/>
        </p:spPr>
        <p:txBody>
          <a:bodyPr wrap="square" lIns="0" tIns="0" rIns="0" bIns="0" rtlCol="0" anchor="ctr"/>
          <a:lstStyle/>
          <a:p>
            <a:pPr marL="0" indent="0">
              <a:lnSpc>
                <a:spcPct val="110000"/>
              </a:lnSpc>
              <a:buNone/>
            </a:pPr>
            <a:r>
              <a:rPr lang="en-US" sz="2400" b="1" dirty="0">
                <a:solidFill>
                  <a:srgbClr val="1B4332"/>
                </a:solidFill>
                <a:latin typeface="Cambria" pitchFamily="34" charset="0"/>
                <a:ea typeface="Cambria" pitchFamily="34" charset="-122"/>
                <a:cs typeface="Cambria" pitchFamily="34" charset="-120"/>
              </a:rPr>
              <a:t>Delays Concentrate in One Warehouse —</a:t>
            </a:r>
            <a:endParaRPr lang="en-US" sz="2400" dirty="0"/>
          </a:p>
          <a:p>
            <a:pPr marL="0" indent="0">
              <a:lnSpc>
                <a:spcPct val="110000"/>
              </a:lnSpc>
              <a:buNone/>
            </a:pPr>
            <a:r>
              <a:rPr lang="en-US" sz="2400" b="1" dirty="0">
                <a:solidFill>
                  <a:srgbClr val="1B4332"/>
                </a:solidFill>
                <a:latin typeface="Cambria" pitchFamily="34" charset="0"/>
                <a:ea typeface="Cambria" pitchFamily="34" charset="-122"/>
                <a:cs typeface="Cambria" pitchFamily="34" charset="-120"/>
              </a:rPr>
              <a:t>and Road Isn't the Cheap Option It Looks Like</a:t>
            </a:r>
            <a:endParaRPr lang="en-US" sz="2400" dirty="0"/>
          </a:p>
        </p:txBody>
      </p:sp>
      <p:sp>
        <p:nvSpPr>
          <p:cNvPr id="5" name="Shape 3"/>
          <p:cNvSpPr/>
          <p:nvPr/>
        </p:nvSpPr>
        <p:spPr>
          <a:xfrm>
            <a:off x="548640" y="2148840"/>
            <a:ext cx="5349240" cy="3566160"/>
          </a:xfrm>
          <a:prstGeom prst="roundRect">
            <a:avLst>
              <a:gd name="adj" fmla="val 2051"/>
            </a:avLst>
          </a:prstGeom>
          <a:solidFill>
            <a:srgbClr val="F2F6F4"/>
          </a:solidFill>
          <a:ln w="12700">
            <a:solidFill>
              <a:srgbClr val="CAD2C5"/>
            </a:solidFill>
            <a:prstDash val="solid"/>
          </a:ln>
        </p:spPr>
        <p:txBody>
          <a:bodyPr/>
          <a:lstStyle/>
          <a:p>
            <a:endParaRPr lang="en-GB"/>
          </a:p>
        </p:txBody>
      </p:sp>
      <p:sp>
        <p:nvSpPr>
          <p:cNvPr id="6" name="Shape 4"/>
          <p:cNvSpPr/>
          <p:nvPr/>
        </p:nvSpPr>
        <p:spPr>
          <a:xfrm>
            <a:off x="548640" y="2148840"/>
            <a:ext cx="5349240" cy="502920"/>
          </a:xfrm>
          <a:prstGeom prst="roundRect">
            <a:avLst>
              <a:gd name="adj" fmla="val 14545"/>
            </a:avLst>
          </a:prstGeom>
          <a:solidFill>
            <a:srgbClr val="1B4332"/>
          </a:solidFill>
          <a:ln/>
        </p:spPr>
        <p:txBody>
          <a:bodyPr/>
          <a:lstStyle/>
          <a:p>
            <a:endParaRPr lang="en-GB"/>
          </a:p>
        </p:txBody>
      </p:sp>
      <p:sp>
        <p:nvSpPr>
          <p:cNvPr id="7" name="Text 5"/>
          <p:cNvSpPr txBox="1"/>
          <p:nvPr/>
        </p:nvSpPr>
        <p:spPr>
          <a:xfrm>
            <a:off x="777240" y="2240280"/>
            <a:ext cx="4892040" cy="320040"/>
          </a:xfrm>
          <a:prstGeom prst="rect">
            <a:avLst/>
          </a:prstGeom>
          <a:noFill/>
          <a:ln/>
        </p:spPr>
        <p:txBody>
          <a:bodyPr wrap="square" lIns="0" tIns="0" rIns="0" bIns="0" rtlCol="0" anchor="ctr"/>
          <a:lstStyle/>
          <a:p>
            <a:pPr marL="0" indent="0">
              <a:buNone/>
            </a:pPr>
            <a:r>
              <a:rPr lang="en-US" sz="1300" b="1" kern="0" spc="50" dirty="0">
                <a:solidFill>
                  <a:srgbClr val="FFFFFF"/>
                </a:solidFill>
                <a:latin typeface="Calibri" pitchFamily="34" charset="0"/>
                <a:ea typeface="Calibri" pitchFamily="34" charset="-122"/>
                <a:cs typeface="Calibri" pitchFamily="34" charset="-120"/>
              </a:rPr>
              <a:t>WAREHOUSE PERFORMANCE</a:t>
            </a:r>
            <a:endParaRPr lang="en-US" sz="1300" dirty="0"/>
          </a:p>
        </p:txBody>
      </p:sp>
      <p:graphicFrame>
        <p:nvGraphicFramePr>
          <p:cNvPr id="8" name="Chart 0"/>
          <p:cNvGraphicFramePr/>
          <p:nvPr/>
        </p:nvGraphicFramePr>
        <p:xfrm>
          <a:off x="777240" y="2788920"/>
          <a:ext cx="4892040" cy="214884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777240" y="4937760"/>
            <a:ext cx="4892040" cy="731520"/>
          </a:xfrm>
          <a:prstGeom prst="rect">
            <a:avLst/>
          </a:prstGeom>
          <a:noFill/>
          <a:ln/>
        </p:spPr>
        <p:txBody>
          <a:bodyPr wrap="square" lIns="0" tIns="0" rIns="0" bIns="0" rtlCol="0" anchor="ctr"/>
          <a:lstStyle/>
          <a:p>
            <a:pPr marL="0" indent="0">
              <a:lnSpc>
                <a:spcPct val="115000"/>
              </a:lnSpc>
              <a:buNone/>
            </a:pPr>
            <a:r>
              <a:rPr lang="en-US" sz="1150" dirty="0">
                <a:solidFill>
                  <a:srgbClr val="1B1B1B"/>
                </a:solidFill>
                <a:latin typeface="Calibri" pitchFamily="34" charset="0"/>
                <a:ea typeface="Calibri" pitchFamily="34" charset="-122"/>
                <a:cs typeface="Calibri" pitchFamily="34" charset="-120"/>
              </a:rPr>
              <a:t>Warehouse 2 drives 46.7% of delays — the highest of any site — despite Warehouse 1 handling more total shipments (21 vs. 15). The delay problem looks operational, not volume-driven.</a:t>
            </a:r>
            <a:endParaRPr lang="en-US" sz="1150" dirty="0"/>
          </a:p>
        </p:txBody>
      </p:sp>
      <p:sp>
        <p:nvSpPr>
          <p:cNvPr id="10" name="Shape 7"/>
          <p:cNvSpPr/>
          <p:nvPr/>
        </p:nvSpPr>
        <p:spPr>
          <a:xfrm>
            <a:off x="6263640" y="2148840"/>
            <a:ext cx="5349240" cy="3566160"/>
          </a:xfrm>
          <a:prstGeom prst="roundRect">
            <a:avLst>
              <a:gd name="adj" fmla="val 2051"/>
            </a:avLst>
          </a:prstGeom>
          <a:solidFill>
            <a:srgbClr val="F2F6F4"/>
          </a:solidFill>
          <a:ln w="12700">
            <a:solidFill>
              <a:srgbClr val="CAD2C5"/>
            </a:solidFill>
            <a:prstDash val="solid"/>
          </a:ln>
        </p:spPr>
        <p:txBody>
          <a:bodyPr/>
          <a:lstStyle/>
          <a:p>
            <a:endParaRPr lang="en-GB"/>
          </a:p>
        </p:txBody>
      </p:sp>
      <p:sp>
        <p:nvSpPr>
          <p:cNvPr id="11" name="Shape 8"/>
          <p:cNvSpPr/>
          <p:nvPr/>
        </p:nvSpPr>
        <p:spPr>
          <a:xfrm>
            <a:off x="6263640" y="2148840"/>
            <a:ext cx="5349240" cy="502920"/>
          </a:xfrm>
          <a:prstGeom prst="roundRect">
            <a:avLst>
              <a:gd name="adj" fmla="val 14545"/>
            </a:avLst>
          </a:prstGeom>
          <a:solidFill>
            <a:srgbClr val="D9A441"/>
          </a:solidFill>
          <a:ln/>
        </p:spPr>
        <p:txBody>
          <a:bodyPr/>
          <a:lstStyle/>
          <a:p>
            <a:endParaRPr lang="en-GB"/>
          </a:p>
        </p:txBody>
      </p:sp>
      <p:sp>
        <p:nvSpPr>
          <p:cNvPr id="12" name="Text 9"/>
          <p:cNvSpPr txBox="1"/>
          <p:nvPr/>
        </p:nvSpPr>
        <p:spPr>
          <a:xfrm>
            <a:off x="6492240" y="2240280"/>
            <a:ext cx="4892040" cy="320040"/>
          </a:xfrm>
          <a:prstGeom prst="rect">
            <a:avLst/>
          </a:prstGeom>
          <a:noFill/>
          <a:ln/>
        </p:spPr>
        <p:txBody>
          <a:bodyPr wrap="square" lIns="0" tIns="0" rIns="0" bIns="0" rtlCol="0" anchor="ctr"/>
          <a:lstStyle/>
          <a:p>
            <a:pPr marL="0" indent="0">
              <a:buNone/>
            </a:pPr>
            <a:r>
              <a:rPr lang="en-US" sz="1300" b="1" kern="0" spc="50" dirty="0">
                <a:solidFill>
                  <a:srgbClr val="1B4332"/>
                </a:solidFill>
                <a:latin typeface="Calibri" pitchFamily="34" charset="0"/>
                <a:ea typeface="Calibri" pitchFamily="34" charset="-122"/>
                <a:cs typeface="Calibri" pitchFamily="34" charset="-120"/>
              </a:rPr>
              <a:t>COST PER SHIPMENT BY METHOD</a:t>
            </a:r>
            <a:endParaRPr lang="en-US" sz="1300" dirty="0"/>
          </a:p>
        </p:txBody>
      </p:sp>
      <p:graphicFrame>
        <p:nvGraphicFramePr>
          <p:cNvPr id="13" name="Chart 1"/>
          <p:cNvGraphicFramePr/>
          <p:nvPr/>
        </p:nvGraphicFramePr>
        <p:xfrm>
          <a:off x="6492240" y="2788920"/>
          <a:ext cx="4892040" cy="2148840"/>
        </p:xfrm>
        <a:graphic>
          <a:graphicData uri="http://schemas.openxmlformats.org/drawingml/2006/chart">
            <c:chart xmlns:c="http://schemas.openxmlformats.org/drawingml/2006/chart" xmlns:r="http://schemas.openxmlformats.org/officeDocument/2006/relationships" r:id="rId4"/>
          </a:graphicData>
        </a:graphic>
      </p:graphicFrame>
      <p:sp>
        <p:nvSpPr>
          <p:cNvPr id="14" name="Text 10"/>
          <p:cNvSpPr txBox="1"/>
          <p:nvPr/>
        </p:nvSpPr>
        <p:spPr>
          <a:xfrm>
            <a:off x="6492240" y="4937760"/>
            <a:ext cx="4892040" cy="731520"/>
          </a:xfrm>
          <a:prstGeom prst="rect">
            <a:avLst/>
          </a:prstGeom>
          <a:noFill/>
          <a:ln/>
        </p:spPr>
        <p:txBody>
          <a:bodyPr wrap="square" lIns="0" tIns="0" rIns="0" bIns="0" rtlCol="0" anchor="ctr"/>
          <a:lstStyle/>
          <a:p>
            <a:pPr marL="0" indent="0">
              <a:lnSpc>
                <a:spcPct val="115000"/>
              </a:lnSpc>
              <a:buNone/>
            </a:pPr>
            <a:r>
              <a:rPr lang="en-US" sz="1150" dirty="0">
                <a:solidFill>
                  <a:srgbClr val="1B1B1B"/>
                </a:solidFill>
                <a:latin typeface="Calibri" pitchFamily="34" charset="0"/>
                <a:ea typeface="Calibri" pitchFamily="34" charset="-122"/>
                <a:cs typeface="Calibri" pitchFamily="34" charset="-120"/>
              </a:rPr>
              <a:t>Road is the most-used method and the least efficient at £1.65K per shipment. Sea is cheapest at £1.30K — a real opportunity to shift non-urgent freight and cut cost.</a:t>
            </a:r>
            <a:endParaRPr lang="en-US" sz="1150" dirty="0"/>
          </a:p>
        </p:txBody>
      </p:sp>
      <p:sp>
        <p:nvSpPr>
          <p:cNvPr id="15" name="Text 11"/>
          <p:cNvSpPr txBox="1"/>
          <p:nvPr/>
        </p:nvSpPr>
        <p:spPr>
          <a:xfrm>
            <a:off x="45720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LogiTrack Global · Supply Chain &amp; Logistics Performance Analysis</a:t>
            </a:r>
            <a:endParaRPr lang="en-US" sz="900" dirty="0"/>
          </a:p>
        </p:txBody>
      </p:sp>
      <p:sp>
        <p:nvSpPr>
          <p:cNvPr id="16" name="Text 12"/>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011680" cy="329184"/>
          </a:xfrm>
          <a:prstGeom prst="roundRect">
            <a:avLst>
              <a:gd name="adj" fmla="val 50000"/>
            </a:avLst>
          </a:prstGeom>
          <a:solidFill>
            <a:srgbClr val="52796F"/>
          </a:solidFill>
          <a:ln/>
        </p:spPr>
        <p:txBody>
          <a:bodyPr/>
          <a:lstStyle/>
          <a:p>
            <a:endParaRPr lang="en-GB"/>
          </a:p>
        </p:txBody>
      </p:sp>
      <p:sp>
        <p:nvSpPr>
          <p:cNvPr id="3" name="Text 1"/>
          <p:cNvSpPr txBox="1"/>
          <p:nvPr/>
        </p:nvSpPr>
        <p:spPr>
          <a:xfrm>
            <a:off x="548640" y="457200"/>
            <a:ext cx="201168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INSIGHT 3 &amp; 4</a:t>
            </a:r>
            <a:endParaRPr lang="en-US" sz="1100" dirty="0"/>
          </a:p>
        </p:txBody>
      </p:sp>
      <p:sp>
        <p:nvSpPr>
          <p:cNvPr id="4" name="Text 2"/>
          <p:cNvSpPr txBox="1"/>
          <p:nvPr/>
        </p:nvSpPr>
        <p:spPr>
          <a:xfrm>
            <a:off x="548640" y="914400"/>
            <a:ext cx="10789920" cy="914400"/>
          </a:xfrm>
          <a:prstGeom prst="rect">
            <a:avLst/>
          </a:prstGeom>
          <a:noFill/>
          <a:ln/>
        </p:spPr>
        <p:txBody>
          <a:bodyPr wrap="square" lIns="0" tIns="0" rIns="0" bIns="0" rtlCol="0" anchor="ctr"/>
          <a:lstStyle/>
          <a:p>
            <a:pPr marL="0" indent="0">
              <a:lnSpc>
                <a:spcPct val="110000"/>
              </a:lnSpc>
              <a:buNone/>
            </a:pPr>
            <a:r>
              <a:rPr lang="en-US" sz="2400" b="1" dirty="0">
                <a:solidFill>
                  <a:srgbClr val="1B4332"/>
                </a:solidFill>
                <a:latin typeface="Cambria" pitchFamily="34" charset="0"/>
                <a:ea typeface="Cambria" pitchFamily="34" charset="-122"/>
                <a:cs typeface="Cambria" pitchFamily="34" charset="-120"/>
              </a:rPr>
              <a:t>Two Suppliers Share the Worst Delay Rate —</a:t>
            </a:r>
            <a:endParaRPr lang="en-US" sz="2400" dirty="0"/>
          </a:p>
          <a:p>
            <a:pPr marL="0" indent="0">
              <a:lnSpc>
                <a:spcPct val="110000"/>
              </a:lnSpc>
              <a:buNone/>
            </a:pPr>
            <a:r>
              <a:rPr lang="en-US" sz="2400" b="1" dirty="0">
                <a:solidFill>
                  <a:srgbClr val="1B4332"/>
                </a:solidFill>
                <a:latin typeface="Cambria" pitchFamily="34" charset="0"/>
                <a:ea typeface="Cambria" pitchFamily="34" charset="-122"/>
                <a:cs typeface="Cambria" pitchFamily="34" charset="-120"/>
              </a:rPr>
              <a:t>and One Partner Stands Out Above the Rest</a:t>
            </a:r>
            <a:endParaRPr lang="en-US" sz="2400" dirty="0"/>
          </a:p>
        </p:txBody>
      </p:sp>
      <p:sp>
        <p:nvSpPr>
          <p:cNvPr id="5" name="Shape 3"/>
          <p:cNvSpPr/>
          <p:nvPr/>
        </p:nvSpPr>
        <p:spPr>
          <a:xfrm>
            <a:off x="548640" y="2148840"/>
            <a:ext cx="5349240" cy="3566160"/>
          </a:xfrm>
          <a:prstGeom prst="roundRect">
            <a:avLst>
              <a:gd name="adj" fmla="val 2051"/>
            </a:avLst>
          </a:prstGeom>
          <a:solidFill>
            <a:srgbClr val="F2F6F4"/>
          </a:solidFill>
          <a:ln w="12700">
            <a:solidFill>
              <a:srgbClr val="CAD2C5"/>
            </a:solidFill>
            <a:prstDash val="solid"/>
          </a:ln>
        </p:spPr>
        <p:txBody>
          <a:bodyPr/>
          <a:lstStyle/>
          <a:p>
            <a:endParaRPr lang="en-GB"/>
          </a:p>
        </p:txBody>
      </p:sp>
      <p:sp>
        <p:nvSpPr>
          <p:cNvPr id="6" name="Shape 4"/>
          <p:cNvSpPr/>
          <p:nvPr/>
        </p:nvSpPr>
        <p:spPr>
          <a:xfrm>
            <a:off x="548640" y="2148840"/>
            <a:ext cx="5349240" cy="502920"/>
          </a:xfrm>
          <a:prstGeom prst="roundRect">
            <a:avLst>
              <a:gd name="adj" fmla="val 14545"/>
            </a:avLst>
          </a:prstGeom>
          <a:solidFill>
            <a:srgbClr val="1B4332"/>
          </a:solidFill>
          <a:ln/>
        </p:spPr>
        <p:txBody>
          <a:bodyPr/>
          <a:lstStyle/>
          <a:p>
            <a:endParaRPr lang="en-GB"/>
          </a:p>
        </p:txBody>
      </p:sp>
      <p:sp>
        <p:nvSpPr>
          <p:cNvPr id="7" name="Text 5"/>
          <p:cNvSpPr txBox="1"/>
          <p:nvPr/>
        </p:nvSpPr>
        <p:spPr>
          <a:xfrm>
            <a:off x="777240" y="2240280"/>
            <a:ext cx="4892040" cy="320040"/>
          </a:xfrm>
          <a:prstGeom prst="rect">
            <a:avLst/>
          </a:prstGeom>
          <a:noFill/>
          <a:ln/>
        </p:spPr>
        <p:txBody>
          <a:bodyPr wrap="square" lIns="0" tIns="0" rIns="0" bIns="0" rtlCol="0" anchor="ctr"/>
          <a:lstStyle/>
          <a:p>
            <a:pPr marL="0" indent="0">
              <a:buNone/>
            </a:pPr>
            <a:r>
              <a:rPr lang="en-US" sz="1300" b="1" kern="0" spc="50" dirty="0">
                <a:solidFill>
                  <a:srgbClr val="FFFFFF"/>
                </a:solidFill>
                <a:latin typeface="Calibri" pitchFamily="34" charset="0"/>
                <a:ea typeface="Calibri" pitchFamily="34" charset="-122"/>
                <a:cs typeface="Calibri" pitchFamily="34" charset="-120"/>
              </a:rPr>
              <a:t>SUPPLIER DELAY RATE</a:t>
            </a:r>
            <a:endParaRPr lang="en-US" sz="1300" dirty="0"/>
          </a:p>
        </p:txBody>
      </p:sp>
      <p:graphicFrame>
        <p:nvGraphicFramePr>
          <p:cNvPr id="8" name="Chart 0"/>
          <p:cNvGraphicFramePr/>
          <p:nvPr>
            <p:extLst>
              <p:ext uri="{D42A27DB-BD31-4B8C-83A1-F6EECF244321}">
                <p14:modId xmlns:p14="http://schemas.microsoft.com/office/powerpoint/2010/main" val="639824541"/>
              </p:ext>
            </p:extLst>
          </p:nvPr>
        </p:nvGraphicFramePr>
        <p:xfrm>
          <a:off x="777240" y="2788920"/>
          <a:ext cx="4892040" cy="214884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777240" y="4937760"/>
            <a:ext cx="4892040" cy="731520"/>
          </a:xfrm>
          <a:prstGeom prst="rect">
            <a:avLst/>
          </a:prstGeom>
          <a:noFill/>
          <a:ln/>
        </p:spPr>
        <p:txBody>
          <a:bodyPr wrap="square" lIns="0" tIns="0" rIns="0" bIns="0" rtlCol="0" anchor="ctr"/>
          <a:lstStyle/>
          <a:p>
            <a:pPr marL="0" indent="0">
              <a:lnSpc>
                <a:spcPct val="115000"/>
              </a:lnSpc>
              <a:buNone/>
            </a:pPr>
            <a:r>
              <a:rPr lang="en-US" sz="1150" dirty="0">
                <a:solidFill>
                  <a:srgbClr val="1B1B1B"/>
                </a:solidFill>
                <a:latin typeface="Calibri" pitchFamily="34" charset="0"/>
                <a:ea typeface="Calibri" pitchFamily="34" charset="-122"/>
                <a:cs typeface="Calibri" pitchFamily="34" charset="-120"/>
              </a:rPr>
              <a:t>Epsilon Co and Gamma Inc both delay 50% of shipments — versus 18.8% for Alpha Corp, despite Alpha Corp supplying the most volume and value. Reliability doesn't track with supplier size.</a:t>
            </a:r>
            <a:endParaRPr lang="en-US" sz="1150" dirty="0"/>
          </a:p>
        </p:txBody>
      </p:sp>
      <p:sp>
        <p:nvSpPr>
          <p:cNvPr id="10" name="Shape 7"/>
          <p:cNvSpPr/>
          <p:nvPr/>
        </p:nvSpPr>
        <p:spPr>
          <a:xfrm>
            <a:off x="6263640" y="2148840"/>
            <a:ext cx="5349240" cy="3566160"/>
          </a:xfrm>
          <a:prstGeom prst="roundRect">
            <a:avLst>
              <a:gd name="adj" fmla="val 2051"/>
            </a:avLst>
          </a:prstGeom>
          <a:solidFill>
            <a:srgbClr val="F2F6F4"/>
          </a:solidFill>
          <a:ln w="12700">
            <a:solidFill>
              <a:srgbClr val="CAD2C5"/>
            </a:solidFill>
            <a:prstDash val="solid"/>
          </a:ln>
        </p:spPr>
        <p:txBody>
          <a:bodyPr/>
          <a:lstStyle/>
          <a:p>
            <a:endParaRPr lang="en-GB"/>
          </a:p>
        </p:txBody>
      </p:sp>
      <p:sp>
        <p:nvSpPr>
          <p:cNvPr id="11" name="Shape 8"/>
          <p:cNvSpPr/>
          <p:nvPr/>
        </p:nvSpPr>
        <p:spPr>
          <a:xfrm>
            <a:off x="6263640" y="2148840"/>
            <a:ext cx="5349240" cy="502920"/>
          </a:xfrm>
          <a:prstGeom prst="roundRect">
            <a:avLst>
              <a:gd name="adj" fmla="val 14545"/>
            </a:avLst>
          </a:prstGeom>
          <a:solidFill>
            <a:srgbClr val="1B4332"/>
          </a:solidFill>
          <a:ln/>
        </p:spPr>
        <p:txBody>
          <a:bodyPr/>
          <a:lstStyle/>
          <a:p>
            <a:endParaRPr lang="en-GB"/>
          </a:p>
        </p:txBody>
      </p:sp>
      <p:sp>
        <p:nvSpPr>
          <p:cNvPr id="12" name="Text 9"/>
          <p:cNvSpPr txBox="1"/>
          <p:nvPr/>
        </p:nvSpPr>
        <p:spPr>
          <a:xfrm>
            <a:off x="6492240" y="2240280"/>
            <a:ext cx="4892040" cy="320040"/>
          </a:xfrm>
          <a:prstGeom prst="rect">
            <a:avLst/>
          </a:prstGeom>
          <a:noFill/>
          <a:ln/>
        </p:spPr>
        <p:txBody>
          <a:bodyPr wrap="square" lIns="0" tIns="0" rIns="0" bIns="0" rtlCol="0" anchor="ctr"/>
          <a:lstStyle/>
          <a:p>
            <a:pPr marL="0" indent="0">
              <a:buNone/>
            </a:pPr>
            <a:r>
              <a:rPr lang="en-US" sz="1300" b="1" kern="0" spc="50" dirty="0">
                <a:solidFill>
                  <a:srgbClr val="FFFFFF"/>
                </a:solidFill>
                <a:latin typeface="Calibri" pitchFamily="34" charset="0"/>
                <a:ea typeface="Calibri" pitchFamily="34" charset="-122"/>
                <a:cs typeface="Calibri" pitchFamily="34" charset="-120"/>
              </a:rPr>
              <a:t>DELAY SHARE BY LOGISTICS PARTNER</a:t>
            </a:r>
            <a:endParaRPr lang="en-US" sz="1300" dirty="0"/>
          </a:p>
        </p:txBody>
      </p:sp>
      <p:graphicFrame>
        <p:nvGraphicFramePr>
          <p:cNvPr id="13" name="Chart 1"/>
          <p:cNvGraphicFramePr/>
          <p:nvPr/>
        </p:nvGraphicFramePr>
        <p:xfrm>
          <a:off x="6492240" y="2788920"/>
          <a:ext cx="4892040" cy="2148840"/>
        </p:xfrm>
        <a:graphic>
          <a:graphicData uri="http://schemas.openxmlformats.org/drawingml/2006/chart">
            <c:chart xmlns:c="http://schemas.openxmlformats.org/drawingml/2006/chart" xmlns:r="http://schemas.openxmlformats.org/officeDocument/2006/relationships" r:id="rId4"/>
          </a:graphicData>
        </a:graphic>
      </p:graphicFrame>
      <p:sp>
        <p:nvSpPr>
          <p:cNvPr id="14" name="Text 10"/>
          <p:cNvSpPr txBox="1"/>
          <p:nvPr/>
        </p:nvSpPr>
        <p:spPr>
          <a:xfrm>
            <a:off x="6492240" y="4937760"/>
            <a:ext cx="4892040" cy="731520"/>
          </a:xfrm>
          <a:prstGeom prst="rect">
            <a:avLst/>
          </a:prstGeom>
          <a:noFill/>
          <a:ln/>
        </p:spPr>
        <p:txBody>
          <a:bodyPr wrap="square" lIns="0" tIns="0" rIns="0" bIns="0" rtlCol="0" anchor="ctr"/>
          <a:lstStyle/>
          <a:p>
            <a:pPr marL="0" indent="0">
              <a:lnSpc>
                <a:spcPct val="115000"/>
              </a:lnSpc>
              <a:buNone/>
            </a:pPr>
            <a:r>
              <a:rPr lang="en-US" sz="1150" dirty="0">
                <a:solidFill>
                  <a:srgbClr val="1B1B1B"/>
                </a:solidFill>
                <a:latin typeface="Calibri" pitchFamily="34" charset="0"/>
                <a:ea typeface="Calibri" pitchFamily="34" charset="-122"/>
                <a:cs typeface="Calibri" pitchFamily="34" charset="-120"/>
              </a:rPr>
              <a:t>FastTrans carries the highest delay share among logistics partners at 45.5%, ahead of TransEdge (40.0%) and ShipSmart (33.3%) — the clearest partner-level risk flag on the dashboard.</a:t>
            </a:r>
            <a:endParaRPr lang="en-US" sz="1150" dirty="0"/>
          </a:p>
        </p:txBody>
      </p:sp>
      <p:sp>
        <p:nvSpPr>
          <p:cNvPr id="15" name="Text 11"/>
          <p:cNvSpPr txBox="1"/>
          <p:nvPr/>
        </p:nvSpPr>
        <p:spPr>
          <a:xfrm>
            <a:off x="45720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LogiTrack Global · Supply Chain &amp; Logistics Performance Analysis</a:t>
            </a:r>
            <a:endParaRPr lang="en-US" sz="900" dirty="0"/>
          </a:p>
        </p:txBody>
      </p:sp>
      <p:sp>
        <p:nvSpPr>
          <p:cNvPr id="16" name="Text 12"/>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011680" cy="329184"/>
          </a:xfrm>
          <a:prstGeom prst="roundRect">
            <a:avLst>
              <a:gd name="adj" fmla="val 50000"/>
            </a:avLst>
          </a:prstGeom>
          <a:solidFill>
            <a:srgbClr val="52796F"/>
          </a:solidFill>
          <a:ln/>
        </p:spPr>
        <p:txBody>
          <a:bodyPr/>
          <a:lstStyle/>
          <a:p>
            <a:endParaRPr lang="en-GB"/>
          </a:p>
        </p:txBody>
      </p:sp>
      <p:sp>
        <p:nvSpPr>
          <p:cNvPr id="3" name="Text 1"/>
          <p:cNvSpPr txBox="1"/>
          <p:nvPr/>
        </p:nvSpPr>
        <p:spPr>
          <a:xfrm>
            <a:off x="548640" y="457200"/>
            <a:ext cx="201168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INSIGHT 5 &amp; 6</a:t>
            </a:r>
            <a:endParaRPr lang="en-US" sz="1100" dirty="0"/>
          </a:p>
        </p:txBody>
      </p:sp>
      <p:sp>
        <p:nvSpPr>
          <p:cNvPr id="4" name="Text 2"/>
          <p:cNvSpPr txBox="1"/>
          <p:nvPr/>
        </p:nvSpPr>
        <p:spPr>
          <a:xfrm>
            <a:off x="548640" y="914400"/>
            <a:ext cx="10789920" cy="914400"/>
          </a:xfrm>
          <a:prstGeom prst="rect">
            <a:avLst/>
          </a:prstGeom>
          <a:noFill/>
          <a:ln/>
        </p:spPr>
        <p:txBody>
          <a:bodyPr wrap="square" lIns="0" tIns="0" rIns="0" bIns="0" rtlCol="0" anchor="ctr"/>
          <a:lstStyle/>
          <a:p>
            <a:pPr marL="0" indent="0">
              <a:lnSpc>
                <a:spcPct val="110000"/>
              </a:lnSpc>
              <a:buNone/>
            </a:pPr>
            <a:r>
              <a:rPr lang="en-US" sz="2400" b="1" dirty="0">
                <a:solidFill>
                  <a:srgbClr val="1B4332"/>
                </a:solidFill>
                <a:latin typeface="Cambria" pitchFamily="34" charset="0"/>
                <a:ea typeface="Cambria" pitchFamily="34" charset="-122"/>
                <a:cs typeface="Cambria" pitchFamily="34" charset="-120"/>
              </a:rPr>
              <a:t>Digging Deeper: Rail's Unusual Pattern,</a:t>
            </a:r>
            <a:endParaRPr lang="en-US" sz="2400" dirty="0"/>
          </a:p>
          <a:p>
            <a:pPr marL="0" indent="0">
              <a:lnSpc>
                <a:spcPct val="110000"/>
              </a:lnSpc>
              <a:buNone/>
            </a:pPr>
            <a:r>
              <a:rPr lang="en-US" sz="2400" b="1" dirty="0">
                <a:solidFill>
                  <a:srgbClr val="1B4332"/>
                </a:solidFill>
                <a:latin typeface="Cambria" pitchFamily="34" charset="0"/>
                <a:ea typeface="Cambria" pitchFamily="34" charset="-122"/>
                <a:cs typeface="Cambria" pitchFamily="34" charset="-120"/>
              </a:rPr>
              <a:t>and What's Really Behind FastTrans's Delays</a:t>
            </a:r>
            <a:endParaRPr lang="en-US" sz="2400" dirty="0"/>
          </a:p>
        </p:txBody>
      </p:sp>
      <p:sp>
        <p:nvSpPr>
          <p:cNvPr id="5" name="Shape 3"/>
          <p:cNvSpPr/>
          <p:nvPr/>
        </p:nvSpPr>
        <p:spPr>
          <a:xfrm>
            <a:off x="548640" y="2148840"/>
            <a:ext cx="5349240" cy="3566160"/>
          </a:xfrm>
          <a:prstGeom prst="roundRect">
            <a:avLst>
              <a:gd name="adj" fmla="val 2051"/>
            </a:avLst>
          </a:prstGeom>
          <a:solidFill>
            <a:srgbClr val="F2F6F4"/>
          </a:solidFill>
          <a:ln w="12700">
            <a:solidFill>
              <a:srgbClr val="CAD2C5"/>
            </a:solidFill>
            <a:prstDash val="solid"/>
          </a:ln>
        </p:spPr>
        <p:txBody>
          <a:bodyPr/>
          <a:lstStyle/>
          <a:p>
            <a:endParaRPr lang="en-GB"/>
          </a:p>
        </p:txBody>
      </p:sp>
      <p:sp>
        <p:nvSpPr>
          <p:cNvPr id="6" name="Shape 4"/>
          <p:cNvSpPr/>
          <p:nvPr/>
        </p:nvSpPr>
        <p:spPr>
          <a:xfrm>
            <a:off x="548640" y="2148840"/>
            <a:ext cx="5349240" cy="502920"/>
          </a:xfrm>
          <a:prstGeom prst="roundRect">
            <a:avLst>
              <a:gd name="adj" fmla="val 14545"/>
            </a:avLst>
          </a:prstGeom>
          <a:solidFill>
            <a:srgbClr val="52796F"/>
          </a:solidFill>
          <a:ln/>
        </p:spPr>
        <p:txBody>
          <a:bodyPr/>
          <a:lstStyle/>
          <a:p>
            <a:endParaRPr lang="en-GB"/>
          </a:p>
        </p:txBody>
      </p:sp>
      <p:sp>
        <p:nvSpPr>
          <p:cNvPr id="7" name="Text 5"/>
          <p:cNvSpPr txBox="1"/>
          <p:nvPr/>
        </p:nvSpPr>
        <p:spPr>
          <a:xfrm>
            <a:off x="777240" y="2240280"/>
            <a:ext cx="4892040" cy="320040"/>
          </a:xfrm>
          <a:prstGeom prst="rect">
            <a:avLst/>
          </a:prstGeom>
          <a:noFill/>
          <a:ln/>
        </p:spPr>
        <p:txBody>
          <a:bodyPr wrap="square" lIns="0" tIns="0" rIns="0" bIns="0" rtlCol="0" anchor="ctr"/>
          <a:lstStyle/>
          <a:p>
            <a:pPr marL="0" indent="0">
              <a:buNone/>
            </a:pPr>
            <a:r>
              <a:rPr lang="en-US" sz="1300" b="1" kern="0" spc="50" dirty="0">
                <a:solidFill>
                  <a:srgbClr val="FFFFFF"/>
                </a:solidFill>
                <a:latin typeface="Calibri" pitchFamily="34" charset="0"/>
                <a:ea typeface="Calibri" pitchFamily="34" charset="-122"/>
                <a:cs typeface="Calibri" pitchFamily="34" charset="-120"/>
              </a:rPr>
              <a:t>RAIL: DELIVERY STATUS SPLIT</a:t>
            </a:r>
            <a:endParaRPr lang="en-US" sz="1300" dirty="0"/>
          </a:p>
        </p:txBody>
      </p:sp>
      <p:graphicFrame>
        <p:nvGraphicFramePr>
          <p:cNvPr id="8" name="Chart 0"/>
          <p:cNvGraphicFramePr/>
          <p:nvPr/>
        </p:nvGraphicFramePr>
        <p:xfrm>
          <a:off x="777240" y="2788920"/>
          <a:ext cx="4892040" cy="187452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777240" y="4846320"/>
            <a:ext cx="4892040" cy="822960"/>
          </a:xfrm>
          <a:prstGeom prst="rect">
            <a:avLst/>
          </a:prstGeom>
          <a:noFill/>
          <a:ln/>
        </p:spPr>
        <p:txBody>
          <a:bodyPr wrap="square" lIns="0" tIns="0" rIns="0" bIns="0" rtlCol="0" anchor="ctr"/>
          <a:lstStyle/>
          <a:p>
            <a:pPr marL="0" indent="0">
              <a:lnSpc>
                <a:spcPct val="115000"/>
              </a:lnSpc>
              <a:buNone/>
            </a:pPr>
            <a:r>
              <a:rPr lang="en-US" sz="1150" dirty="0">
                <a:solidFill>
                  <a:srgbClr val="1B1B1B"/>
                </a:solidFill>
                <a:latin typeface="Calibri" pitchFamily="34" charset="0"/>
                <a:ea typeface="Calibri" pitchFamily="34" charset="-122"/>
                <a:cs typeface="Calibri" pitchFamily="34" charset="-120"/>
              </a:rPr>
              <a:t>Unlike Road, Air, and Sea — each dominated by one outcome — Rail splits evenly across all four statuses, with no clear majority. Rail shipments appear to move more slowly overall, not just when delayed.</a:t>
            </a:r>
            <a:endParaRPr lang="en-US" sz="1150" dirty="0"/>
          </a:p>
        </p:txBody>
      </p:sp>
      <p:sp>
        <p:nvSpPr>
          <p:cNvPr id="10" name="Shape 7"/>
          <p:cNvSpPr/>
          <p:nvPr/>
        </p:nvSpPr>
        <p:spPr>
          <a:xfrm>
            <a:off x="6263640" y="2148840"/>
            <a:ext cx="5349240" cy="3566160"/>
          </a:xfrm>
          <a:prstGeom prst="roundRect">
            <a:avLst>
              <a:gd name="adj" fmla="val 2051"/>
            </a:avLst>
          </a:prstGeom>
          <a:solidFill>
            <a:srgbClr val="F2F6F4"/>
          </a:solidFill>
          <a:ln w="12700">
            <a:solidFill>
              <a:srgbClr val="CAD2C5"/>
            </a:solidFill>
            <a:prstDash val="solid"/>
          </a:ln>
        </p:spPr>
        <p:txBody>
          <a:bodyPr/>
          <a:lstStyle/>
          <a:p>
            <a:endParaRPr lang="en-GB"/>
          </a:p>
        </p:txBody>
      </p:sp>
      <p:sp>
        <p:nvSpPr>
          <p:cNvPr id="11" name="Shape 8"/>
          <p:cNvSpPr/>
          <p:nvPr/>
        </p:nvSpPr>
        <p:spPr>
          <a:xfrm>
            <a:off x="6263640" y="2148840"/>
            <a:ext cx="5349240" cy="502920"/>
          </a:xfrm>
          <a:prstGeom prst="roundRect">
            <a:avLst>
              <a:gd name="adj" fmla="val 14545"/>
            </a:avLst>
          </a:prstGeom>
          <a:solidFill>
            <a:srgbClr val="C1272D"/>
          </a:solidFill>
          <a:ln/>
        </p:spPr>
        <p:txBody>
          <a:bodyPr/>
          <a:lstStyle/>
          <a:p>
            <a:endParaRPr lang="en-GB"/>
          </a:p>
        </p:txBody>
      </p:sp>
      <p:sp>
        <p:nvSpPr>
          <p:cNvPr id="12" name="Text 9"/>
          <p:cNvSpPr txBox="1"/>
          <p:nvPr/>
        </p:nvSpPr>
        <p:spPr>
          <a:xfrm>
            <a:off x="6492240" y="2240280"/>
            <a:ext cx="4892040" cy="320040"/>
          </a:xfrm>
          <a:prstGeom prst="rect">
            <a:avLst/>
          </a:prstGeom>
          <a:noFill/>
          <a:ln/>
        </p:spPr>
        <p:txBody>
          <a:bodyPr wrap="square" lIns="0" tIns="0" rIns="0" bIns="0" rtlCol="0" anchor="ctr"/>
          <a:lstStyle/>
          <a:p>
            <a:pPr marL="0" indent="0">
              <a:buNone/>
            </a:pPr>
            <a:r>
              <a:rPr lang="en-US" sz="1300" b="1" kern="0" spc="50" dirty="0">
                <a:solidFill>
                  <a:srgbClr val="FFFFFF"/>
                </a:solidFill>
                <a:latin typeface="Calibri" pitchFamily="34" charset="0"/>
                <a:ea typeface="Calibri" pitchFamily="34" charset="-122"/>
                <a:cs typeface="Calibri" pitchFamily="34" charset="-120"/>
              </a:rPr>
              <a:t>FASTTRANS: SHIPMENT MIX (n=11)</a:t>
            </a:r>
            <a:endParaRPr lang="en-US" sz="1300" dirty="0"/>
          </a:p>
        </p:txBody>
      </p:sp>
      <p:graphicFrame>
        <p:nvGraphicFramePr>
          <p:cNvPr id="13" name="Chart 1"/>
          <p:cNvGraphicFramePr/>
          <p:nvPr/>
        </p:nvGraphicFramePr>
        <p:xfrm>
          <a:off x="6492240" y="2788920"/>
          <a:ext cx="4892040" cy="1874520"/>
        </p:xfrm>
        <a:graphic>
          <a:graphicData uri="http://schemas.openxmlformats.org/drawingml/2006/chart">
            <c:chart xmlns:c="http://schemas.openxmlformats.org/drawingml/2006/chart" xmlns:r="http://schemas.openxmlformats.org/officeDocument/2006/relationships" r:id="rId4"/>
          </a:graphicData>
        </a:graphic>
      </p:graphicFrame>
      <p:sp>
        <p:nvSpPr>
          <p:cNvPr id="14" name="Text 10"/>
          <p:cNvSpPr txBox="1"/>
          <p:nvPr/>
        </p:nvSpPr>
        <p:spPr>
          <a:xfrm>
            <a:off x="6492240" y="4846320"/>
            <a:ext cx="4892040" cy="822960"/>
          </a:xfrm>
          <a:prstGeom prst="rect">
            <a:avLst/>
          </a:prstGeom>
          <a:noFill/>
          <a:ln/>
        </p:spPr>
        <p:txBody>
          <a:bodyPr wrap="square" lIns="0" tIns="0" rIns="0" bIns="0" rtlCol="0" anchor="ctr"/>
          <a:lstStyle/>
          <a:p>
            <a:pPr marL="0" indent="0">
              <a:lnSpc>
                <a:spcPct val="115000"/>
              </a:lnSpc>
              <a:buNone/>
            </a:pPr>
            <a:r>
              <a:rPr lang="en-US" sz="1150" dirty="0">
                <a:solidFill>
                  <a:srgbClr val="1B1B1B"/>
                </a:solidFill>
                <a:latin typeface="Calibri" pitchFamily="34" charset="0"/>
                <a:ea typeface="Calibri" pitchFamily="34" charset="-122"/>
                <a:cs typeface="Calibri" pitchFamily="34" charset="-120"/>
              </a:rPr>
              <a:t>FastTrans's shipments split fairly evenly across methods (Road 4, Air 4, Rail 2, Sea 1) — Road isn't over-represented. Its 45.5% delay rate can't be blamed on method mix; the cause is likely partner-specific.</a:t>
            </a:r>
            <a:endParaRPr lang="en-US" sz="1150" dirty="0"/>
          </a:p>
        </p:txBody>
      </p:sp>
      <p:sp>
        <p:nvSpPr>
          <p:cNvPr id="15" name="Text 11"/>
          <p:cNvSpPr txBox="1"/>
          <p:nvPr/>
        </p:nvSpPr>
        <p:spPr>
          <a:xfrm>
            <a:off x="45720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LogiTrack Global · Supply Chain &amp; Logistics Performance Analysis</a:t>
            </a:r>
            <a:endParaRPr lang="en-US" sz="900" dirty="0"/>
          </a:p>
        </p:txBody>
      </p:sp>
      <p:sp>
        <p:nvSpPr>
          <p:cNvPr id="16" name="Text 12"/>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548640" y="502920"/>
            <a:ext cx="2011680" cy="329184"/>
          </a:xfrm>
          <a:prstGeom prst="roundRect">
            <a:avLst>
              <a:gd name="adj" fmla="val 50000"/>
            </a:avLst>
          </a:prstGeom>
          <a:solidFill>
            <a:srgbClr val="D9A441"/>
          </a:solidFill>
          <a:ln/>
        </p:spPr>
        <p:txBody>
          <a:bodyPr/>
          <a:lstStyle/>
          <a:p>
            <a:endParaRPr lang="en-GB"/>
          </a:p>
        </p:txBody>
      </p:sp>
      <p:sp>
        <p:nvSpPr>
          <p:cNvPr id="3" name="Text 1"/>
          <p:cNvSpPr txBox="1"/>
          <p:nvPr/>
        </p:nvSpPr>
        <p:spPr>
          <a:xfrm>
            <a:off x="548640" y="502920"/>
            <a:ext cx="2011680" cy="329184"/>
          </a:xfrm>
          <a:prstGeom prst="rect">
            <a:avLst/>
          </a:prstGeom>
          <a:noFill/>
          <a:ln/>
        </p:spPr>
        <p:txBody>
          <a:bodyPr wrap="square" lIns="0" tIns="0" rIns="0" bIns="0" rtlCol="0" anchor="ctr"/>
          <a:lstStyle/>
          <a:p>
            <a:pPr marL="0" indent="0" algn="ctr">
              <a:buNone/>
            </a:pPr>
            <a:r>
              <a:rPr lang="en-US" sz="1100" b="1" kern="0" spc="100" dirty="0">
                <a:solidFill>
                  <a:srgbClr val="1B4332"/>
                </a:solidFill>
                <a:latin typeface="Calibri" pitchFamily="34" charset="0"/>
                <a:ea typeface="Calibri" pitchFamily="34" charset="-122"/>
                <a:cs typeface="Calibri" pitchFamily="34" charset="-120"/>
              </a:rPr>
              <a:t>RECOMMENDATIONS</a:t>
            </a:r>
            <a:endParaRPr lang="en-US" sz="1100" dirty="0"/>
          </a:p>
        </p:txBody>
      </p:sp>
      <p:sp>
        <p:nvSpPr>
          <p:cNvPr id="4" name="Text 2"/>
          <p:cNvSpPr txBox="1"/>
          <p:nvPr/>
        </p:nvSpPr>
        <p:spPr>
          <a:xfrm>
            <a:off x="548640" y="1005840"/>
            <a:ext cx="91440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Four Actions for Management</a:t>
            </a:r>
            <a:endParaRPr lang="en-US" sz="3000" dirty="0"/>
          </a:p>
        </p:txBody>
      </p:sp>
      <p:sp>
        <p:nvSpPr>
          <p:cNvPr id="5" name="Shape 3"/>
          <p:cNvSpPr/>
          <p:nvPr/>
        </p:nvSpPr>
        <p:spPr>
          <a:xfrm>
            <a:off x="548640" y="1874520"/>
            <a:ext cx="5349240" cy="1965960"/>
          </a:xfrm>
          <a:prstGeom prst="roundRect">
            <a:avLst>
              <a:gd name="adj" fmla="val 3721"/>
            </a:avLst>
          </a:prstGeom>
          <a:solidFill>
            <a:srgbClr val="24594A"/>
          </a:solidFill>
          <a:ln/>
        </p:spPr>
        <p:txBody>
          <a:bodyPr/>
          <a:lstStyle/>
          <a:p>
            <a:endParaRPr lang="en-GB"/>
          </a:p>
        </p:txBody>
      </p:sp>
      <p:sp>
        <p:nvSpPr>
          <p:cNvPr id="6" name="Shape 4"/>
          <p:cNvSpPr/>
          <p:nvPr/>
        </p:nvSpPr>
        <p:spPr>
          <a:xfrm>
            <a:off x="777240" y="2103120"/>
            <a:ext cx="502920" cy="502920"/>
          </a:xfrm>
          <a:prstGeom prst="ellipse">
            <a:avLst/>
          </a:prstGeom>
          <a:solidFill>
            <a:srgbClr val="D9A441"/>
          </a:solidFill>
          <a:ln/>
        </p:spPr>
        <p:txBody>
          <a:bodyPr/>
          <a:lstStyle/>
          <a:p>
            <a:endParaRPr lang="en-GB"/>
          </a:p>
        </p:txBody>
      </p:sp>
      <p:sp>
        <p:nvSpPr>
          <p:cNvPr id="7" name="Text 5"/>
          <p:cNvSpPr txBox="1"/>
          <p:nvPr/>
        </p:nvSpPr>
        <p:spPr>
          <a:xfrm>
            <a:off x="777240" y="2103120"/>
            <a:ext cx="502920" cy="502920"/>
          </a:xfrm>
          <a:prstGeom prst="rect">
            <a:avLst/>
          </a:prstGeom>
          <a:noFill/>
          <a:ln/>
        </p:spPr>
        <p:txBody>
          <a:bodyPr wrap="square" lIns="0" tIns="0" rIns="0" bIns="0" rtlCol="0" anchor="ctr"/>
          <a:lstStyle/>
          <a:p>
            <a:pPr marL="0" indent="0" algn="ctr">
              <a:buNone/>
            </a:pPr>
            <a:r>
              <a:rPr lang="en-US" sz="2000" b="1" dirty="0">
                <a:solidFill>
                  <a:srgbClr val="1B4332"/>
                </a:solidFill>
                <a:latin typeface="Cambria" pitchFamily="34" charset="0"/>
                <a:ea typeface="Cambria" pitchFamily="34" charset="-122"/>
                <a:cs typeface="Cambria" pitchFamily="34" charset="-120"/>
              </a:rPr>
              <a:t>1</a:t>
            </a:r>
            <a:endParaRPr lang="en-US" sz="2000" dirty="0"/>
          </a:p>
        </p:txBody>
      </p:sp>
      <p:sp>
        <p:nvSpPr>
          <p:cNvPr id="8" name="Text 6"/>
          <p:cNvSpPr txBox="1"/>
          <p:nvPr/>
        </p:nvSpPr>
        <p:spPr>
          <a:xfrm>
            <a:off x="1463040" y="2075688"/>
            <a:ext cx="4206240" cy="5486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Review Warehouse 2 Operations</a:t>
            </a:r>
            <a:endParaRPr lang="en-US" sz="1500" dirty="0"/>
          </a:p>
        </p:txBody>
      </p:sp>
      <p:sp>
        <p:nvSpPr>
          <p:cNvPr id="9" name="Text 7"/>
          <p:cNvSpPr txBox="1"/>
          <p:nvPr/>
        </p:nvSpPr>
        <p:spPr>
          <a:xfrm>
            <a:off x="1463040" y="2651760"/>
            <a:ext cx="4206240" cy="1051560"/>
          </a:xfrm>
          <a:prstGeom prst="rect">
            <a:avLst/>
          </a:prstGeom>
          <a:noFill/>
          <a:ln/>
        </p:spPr>
        <p:txBody>
          <a:bodyPr wrap="square" lIns="0" tIns="0" rIns="0" bIns="0" rtlCol="0" anchor="ctr"/>
          <a:lstStyle/>
          <a:p>
            <a:pPr marL="0" indent="0">
              <a:lnSpc>
                <a:spcPct val="120000"/>
              </a:lnSpc>
              <a:buNone/>
            </a:pPr>
            <a:r>
              <a:rPr lang="en-US" sz="1200" dirty="0">
                <a:solidFill>
                  <a:srgbClr val="D9E5DF"/>
                </a:solidFill>
                <a:latin typeface="Calibri" pitchFamily="34" charset="0"/>
                <a:ea typeface="Calibri" pitchFamily="34" charset="-122"/>
                <a:cs typeface="Calibri" pitchFamily="34" charset="-120"/>
              </a:rPr>
              <a:t>Conduct a root-cause review of staffing, dispatch, and handoff processes before addressing delays company-wide.</a:t>
            </a:r>
            <a:endParaRPr lang="en-US" sz="1200" dirty="0"/>
          </a:p>
        </p:txBody>
      </p:sp>
      <p:sp>
        <p:nvSpPr>
          <p:cNvPr id="10" name="Shape 8"/>
          <p:cNvSpPr/>
          <p:nvPr/>
        </p:nvSpPr>
        <p:spPr>
          <a:xfrm>
            <a:off x="6172200" y="1874520"/>
            <a:ext cx="5349240" cy="1965960"/>
          </a:xfrm>
          <a:prstGeom prst="roundRect">
            <a:avLst>
              <a:gd name="adj" fmla="val 3721"/>
            </a:avLst>
          </a:prstGeom>
          <a:solidFill>
            <a:srgbClr val="24594A"/>
          </a:solidFill>
          <a:ln/>
        </p:spPr>
        <p:txBody>
          <a:bodyPr/>
          <a:lstStyle/>
          <a:p>
            <a:endParaRPr lang="en-GB"/>
          </a:p>
        </p:txBody>
      </p:sp>
      <p:sp>
        <p:nvSpPr>
          <p:cNvPr id="11" name="Shape 9"/>
          <p:cNvSpPr/>
          <p:nvPr/>
        </p:nvSpPr>
        <p:spPr>
          <a:xfrm>
            <a:off x="6400800" y="2103120"/>
            <a:ext cx="502920" cy="502920"/>
          </a:xfrm>
          <a:prstGeom prst="ellipse">
            <a:avLst/>
          </a:prstGeom>
          <a:solidFill>
            <a:srgbClr val="D9A441"/>
          </a:solidFill>
          <a:ln/>
        </p:spPr>
        <p:txBody>
          <a:bodyPr/>
          <a:lstStyle/>
          <a:p>
            <a:endParaRPr lang="en-GB"/>
          </a:p>
        </p:txBody>
      </p:sp>
      <p:sp>
        <p:nvSpPr>
          <p:cNvPr id="12" name="Text 10"/>
          <p:cNvSpPr txBox="1"/>
          <p:nvPr/>
        </p:nvSpPr>
        <p:spPr>
          <a:xfrm>
            <a:off x="6400800" y="2103120"/>
            <a:ext cx="502920" cy="502920"/>
          </a:xfrm>
          <a:prstGeom prst="rect">
            <a:avLst/>
          </a:prstGeom>
          <a:noFill/>
          <a:ln/>
        </p:spPr>
        <p:txBody>
          <a:bodyPr wrap="square" lIns="0" tIns="0" rIns="0" bIns="0" rtlCol="0" anchor="ctr"/>
          <a:lstStyle/>
          <a:p>
            <a:pPr marL="0" indent="0" algn="ctr">
              <a:buNone/>
            </a:pPr>
            <a:r>
              <a:rPr lang="en-US" sz="2000" b="1" dirty="0">
                <a:solidFill>
                  <a:srgbClr val="1B4332"/>
                </a:solidFill>
                <a:latin typeface="Cambria" pitchFamily="34" charset="0"/>
                <a:ea typeface="Cambria" pitchFamily="34" charset="-122"/>
                <a:cs typeface="Cambria" pitchFamily="34" charset="-120"/>
              </a:rPr>
              <a:t>2</a:t>
            </a:r>
            <a:endParaRPr lang="en-US" sz="2000" dirty="0"/>
          </a:p>
        </p:txBody>
      </p:sp>
      <p:sp>
        <p:nvSpPr>
          <p:cNvPr id="13" name="Text 11"/>
          <p:cNvSpPr txBox="1"/>
          <p:nvPr/>
        </p:nvSpPr>
        <p:spPr>
          <a:xfrm>
            <a:off x="7086600" y="2075688"/>
            <a:ext cx="4206240" cy="5486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Address Underperforming Suppliers</a:t>
            </a:r>
            <a:endParaRPr lang="en-US" sz="1500" dirty="0"/>
          </a:p>
        </p:txBody>
      </p:sp>
      <p:sp>
        <p:nvSpPr>
          <p:cNvPr id="14" name="Text 12"/>
          <p:cNvSpPr txBox="1"/>
          <p:nvPr/>
        </p:nvSpPr>
        <p:spPr>
          <a:xfrm>
            <a:off x="7086600" y="2651760"/>
            <a:ext cx="4206240" cy="1051560"/>
          </a:xfrm>
          <a:prstGeom prst="rect">
            <a:avLst/>
          </a:prstGeom>
          <a:noFill/>
          <a:ln/>
        </p:spPr>
        <p:txBody>
          <a:bodyPr wrap="square" lIns="0" tIns="0" rIns="0" bIns="0" rtlCol="0" anchor="ctr"/>
          <a:lstStyle/>
          <a:p>
            <a:pPr marL="0" indent="0">
              <a:lnSpc>
                <a:spcPct val="120000"/>
              </a:lnSpc>
              <a:buNone/>
            </a:pPr>
            <a:r>
              <a:rPr lang="en-US" sz="1200" dirty="0">
                <a:solidFill>
                  <a:srgbClr val="D9E5DF"/>
                </a:solidFill>
                <a:latin typeface="Calibri" pitchFamily="34" charset="0"/>
                <a:ea typeface="Calibri" pitchFamily="34" charset="-122"/>
                <a:cs typeface="Calibri" pitchFamily="34" charset="-120"/>
              </a:rPr>
              <a:t>Set delivery-performance SLAs with Epsilon Co and Gamma Inc, or diversify sourcing toward more reliable suppliers.</a:t>
            </a:r>
            <a:endParaRPr lang="en-US" sz="1200" dirty="0"/>
          </a:p>
        </p:txBody>
      </p:sp>
      <p:sp>
        <p:nvSpPr>
          <p:cNvPr id="15" name="Shape 13"/>
          <p:cNvSpPr/>
          <p:nvPr/>
        </p:nvSpPr>
        <p:spPr>
          <a:xfrm>
            <a:off x="548640" y="4114800"/>
            <a:ext cx="5349240" cy="1965960"/>
          </a:xfrm>
          <a:prstGeom prst="roundRect">
            <a:avLst>
              <a:gd name="adj" fmla="val 3721"/>
            </a:avLst>
          </a:prstGeom>
          <a:solidFill>
            <a:srgbClr val="24594A"/>
          </a:solidFill>
          <a:ln/>
        </p:spPr>
        <p:txBody>
          <a:bodyPr/>
          <a:lstStyle/>
          <a:p>
            <a:endParaRPr lang="en-GB"/>
          </a:p>
        </p:txBody>
      </p:sp>
      <p:sp>
        <p:nvSpPr>
          <p:cNvPr id="16" name="Shape 14"/>
          <p:cNvSpPr/>
          <p:nvPr/>
        </p:nvSpPr>
        <p:spPr>
          <a:xfrm>
            <a:off x="777240" y="4343400"/>
            <a:ext cx="502920" cy="502920"/>
          </a:xfrm>
          <a:prstGeom prst="ellipse">
            <a:avLst/>
          </a:prstGeom>
          <a:solidFill>
            <a:srgbClr val="D9A441"/>
          </a:solidFill>
          <a:ln/>
        </p:spPr>
        <p:txBody>
          <a:bodyPr/>
          <a:lstStyle/>
          <a:p>
            <a:endParaRPr lang="en-GB"/>
          </a:p>
        </p:txBody>
      </p:sp>
      <p:sp>
        <p:nvSpPr>
          <p:cNvPr id="17" name="Text 15"/>
          <p:cNvSpPr txBox="1"/>
          <p:nvPr/>
        </p:nvSpPr>
        <p:spPr>
          <a:xfrm>
            <a:off x="777240" y="4343400"/>
            <a:ext cx="502920" cy="502920"/>
          </a:xfrm>
          <a:prstGeom prst="rect">
            <a:avLst/>
          </a:prstGeom>
          <a:noFill/>
          <a:ln/>
        </p:spPr>
        <p:txBody>
          <a:bodyPr wrap="square" lIns="0" tIns="0" rIns="0" bIns="0" rtlCol="0" anchor="ctr"/>
          <a:lstStyle/>
          <a:p>
            <a:pPr marL="0" indent="0" algn="ctr">
              <a:buNone/>
            </a:pPr>
            <a:r>
              <a:rPr lang="en-US" sz="2000" b="1" dirty="0">
                <a:solidFill>
                  <a:srgbClr val="1B4332"/>
                </a:solidFill>
                <a:latin typeface="Cambria" pitchFamily="34" charset="0"/>
                <a:ea typeface="Cambria" pitchFamily="34" charset="-122"/>
                <a:cs typeface="Cambria" pitchFamily="34" charset="-120"/>
              </a:rPr>
              <a:t>3</a:t>
            </a:r>
            <a:endParaRPr lang="en-US" sz="2000" dirty="0"/>
          </a:p>
        </p:txBody>
      </p:sp>
      <p:sp>
        <p:nvSpPr>
          <p:cNvPr id="18" name="Text 16"/>
          <p:cNvSpPr txBox="1"/>
          <p:nvPr/>
        </p:nvSpPr>
        <p:spPr>
          <a:xfrm>
            <a:off x="1463040" y="4315968"/>
            <a:ext cx="4206240" cy="5486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Shift Non-Urgent Freight to Sea</a:t>
            </a:r>
            <a:endParaRPr lang="en-US" sz="1500" dirty="0"/>
          </a:p>
        </p:txBody>
      </p:sp>
      <p:sp>
        <p:nvSpPr>
          <p:cNvPr id="19" name="Text 17"/>
          <p:cNvSpPr txBox="1"/>
          <p:nvPr/>
        </p:nvSpPr>
        <p:spPr>
          <a:xfrm>
            <a:off x="1463040" y="4892040"/>
            <a:ext cx="4206240" cy="1051560"/>
          </a:xfrm>
          <a:prstGeom prst="rect">
            <a:avLst/>
          </a:prstGeom>
          <a:noFill/>
          <a:ln/>
        </p:spPr>
        <p:txBody>
          <a:bodyPr wrap="square" lIns="0" tIns="0" rIns="0" bIns="0" rtlCol="0" anchor="ctr"/>
          <a:lstStyle/>
          <a:p>
            <a:pPr marL="0" indent="0">
              <a:lnSpc>
                <a:spcPct val="120000"/>
              </a:lnSpc>
              <a:buNone/>
            </a:pPr>
            <a:r>
              <a:rPr lang="en-US" sz="1200" dirty="0">
                <a:solidFill>
                  <a:srgbClr val="D9E5DF"/>
                </a:solidFill>
                <a:latin typeface="Calibri" pitchFamily="34" charset="0"/>
                <a:ea typeface="Calibri" pitchFamily="34" charset="-122"/>
                <a:cs typeface="Calibri" pitchFamily="34" charset="-120"/>
              </a:rPr>
              <a:t>Reallocate a portion of Road shipments to Sea where lead times allow, cutting cost without a proportional loss in speed.</a:t>
            </a:r>
            <a:endParaRPr lang="en-US" sz="1200" dirty="0"/>
          </a:p>
        </p:txBody>
      </p:sp>
      <p:sp>
        <p:nvSpPr>
          <p:cNvPr id="20" name="Shape 18"/>
          <p:cNvSpPr/>
          <p:nvPr/>
        </p:nvSpPr>
        <p:spPr>
          <a:xfrm>
            <a:off x="6172200" y="4114800"/>
            <a:ext cx="5349240" cy="1965960"/>
          </a:xfrm>
          <a:prstGeom prst="roundRect">
            <a:avLst>
              <a:gd name="adj" fmla="val 3721"/>
            </a:avLst>
          </a:prstGeom>
          <a:solidFill>
            <a:srgbClr val="24594A"/>
          </a:solidFill>
          <a:ln/>
        </p:spPr>
        <p:txBody>
          <a:bodyPr/>
          <a:lstStyle/>
          <a:p>
            <a:endParaRPr lang="en-GB"/>
          </a:p>
        </p:txBody>
      </p:sp>
      <p:sp>
        <p:nvSpPr>
          <p:cNvPr id="21" name="Shape 19"/>
          <p:cNvSpPr/>
          <p:nvPr/>
        </p:nvSpPr>
        <p:spPr>
          <a:xfrm>
            <a:off x="6400800" y="4343400"/>
            <a:ext cx="502920" cy="502920"/>
          </a:xfrm>
          <a:prstGeom prst="ellipse">
            <a:avLst/>
          </a:prstGeom>
          <a:solidFill>
            <a:srgbClr val="D9A441"/>
          </a:solidFill>
          <a:ln/>
        </p:spPr>
        <p:txBody>
          <a:bodyPr/>
          <a:lstStyle/>
          <a:p>
            <a:endParaRPr lang="en-GB"/>
          </a:p>
        </p:txBody>
      </p:sp>
      <p:sp>
        <p:nvSpPr>
          <p:cNvPr id="22" name="Text 20"/>
          <p:cNvSpPr txBox="1"/>
          <p:nvPr/>
        </p:nvSpPr>
        <p:spPr>
          <a:xfrm>
            <a:off x="6400800" y="4343400"/>
            <a:ext cx="502920" cy="502920"/>
          </a:xfrm>
          <a:prstGeom prst="rect">
            <a:avLst/>
          </a:prstGeom>
          <a:noFill/>
          <a:ln/>
        </p:spPr>
        <p:txBody>
          <a:bodyPr wrap="square" lIns="0" tIns="0" rIns="0" bIns="0" rtlCol="0" anchor="ctr"/>
          <a:lstStyle/>
          <a:p>
            <a:pPr marL="0" indent="0" algn="ctr">
              <a:buNone/>
            </a:pPr>
            <a:r>
              <a:rPr lang="en-US" sz="2000" b="1" dirty="0">
                <a:solidFill>
                  <a:srgbClr val="1B4332"/>
                </a:solidFill>
                <a:latin typeface="Cambria" pitchFamily="34" charset="0"/>
                <a:ea typeface="Cambria" pitchFamily="34" charset="-122"/>
                <a:cs typeface="Cambria" pitchFamily="34" charset="-120"/>
              </a:rPr>
              <a:t>4</a:t>
            </a:r>
            <a:endParaRPr lang="en-US" sz="2000" dirty="0"/>
          </a:p>
        </p:txBody>
      </p:sp>
      <p:sp>
        <p:nvSpPr>
          <p:cNvPr id="23" name="Text 21"/>
          <p:cNvSpPr txBox="1"/>
          <p:nvPr/>
        </p:nvSpPr>
        <p:spPr>
          <a:xfrm>
            <a:off x="7086600" y="4315968"/>
            <a:ext cx="4206240" cy="5486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Open a Direct FastTrans Review</a:t>
            </a:r>
            <a:endParaRPr lang="en-US" sz="1500" dirty="0"/>
          </a:p>
        </p:txBody>
      </p:sp>
      <p:sp>
        <p:nvSpPr>
          <p:cNvPr id="24" name="Text 22"/>
          <p:cNvSpPr txBox="1"/>
          <p:nvPr/>
        </p:nvSpPr>
        <p:spPr>
          <a:xfrm>
            <a:off x="7086600" y="4892040"/>
            <a:ext cx="4206240" cy="1051560"/>
          </a:xfrm>
          <a:prstGeom prst="rect">
            <a:avLst/>
          </a:prstGeom>
          <a:noFill/>
          <a:ln/>
        </p:spPr>
        <p:txBody>
          <a:bodyPr wrap="square" lIns="0" tIns="0" rIns="0" bIns="0" rtlCol="0" anchor="ctr"/>
          <a:lstStyle/>
          <a:p>
            <a:pPr marL="0" indent="0">
              <a:lnSpc>
                <a:spcPct val="120000"/>
              </a:lnSpc>
              <a:buNone/>
            </a:pPr>
            <a:r>
              <a:rPr lang="en-US" sz="1200" dirty="0">
                <a:solidFill>
                  <a:srgbClr val="D9E5DF"/>
                </a:solidFill>
                <a:latin typeface="Calibri" pitchFamily="34" charset="0"/>
                <a:ea typeface="Calibri" pitchFamily="34" charset="-122"/>
                <a:cs typeface="Calibri" pitchFamily="34" charset="-120"/>
              </a:rPr>
              <a:t>Request delay-cause reporting from FastTrans, or pilot shifting volume to a lower-delay partner to test for improvement.</a:t>
            </a:r>
            <a:endParaRPr lang="en-US" sz="1200" dirty="0"/>
          </a:p>
        </p:txBody>
      </p:sp>
      <p:sp>
        <p:nvSpPr>
          <p:cNvPr id="25" name="Text 23"/>
          <p:cNvSpPr txBox="1"/>
          <p:nvPr/>
        </p:nvSpPr>
        <p:spPr>
          <a:xfrm>
            <a:off x="457200" y="6473952"/>
            <a:ext cx="8229600" cy="274320"/>
          </a:xfrm>
          <a:prstGeom prst="rect">
            <a:avLst/>
          </a:prstGeom>
          <a:noFill/>
          <a:ln/>
        </p:spPr>
        <p:txBody>
          <a:bodyPr wrap="square" lIns="0" tIns="0" rIns="0" bIns="0" rtlCol="0" anchor="ctr"/>
          <a:lstStyle/>
          <a:p>
            <a:pPr marL="0" indent="0">
              <a:buNone/>
            </a:pPr>
            <a:r>
              <a:rPr lang="en-US" sz="900" dirty="0">
                <a:solidFill>
                  <a:srgbClr val="C9D6D0"/>
                </a:solidFill>
                <a:latin typeface="Calibri" pitchFamily="34" charset="0"/>
                <a:ea typeface="Calibri" pitchFamily="34" charset="-122"/>
                <a:cs typeface="Calibri" pitchFamily="34" charset="-120"/>
              </a:rPr>
              <a:t>LogiTrack Global · Supply Chain &amp; Logistics Performance Analysis</a:t>
            </a:r>
            <a:endParaRPr lang="en-US" sz="900" dirty="0"/>
          </a:p>
        </p:txBody>
      </p:sp>
      <p:sp>
        <p:nvSpPr>
          <p:cNvPr id="26" name="Text 24"/>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C9D6D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2011680" cy="329184"/>
          </a:xfrm>
          <a:prstGeom prst="roundRect">
            <a:avLst>
              <a:gd name="adj" fmla="val 50000"/>
            </a:avLst>
          </a:prstGeom>
          <a:solidFill>
            <a:srgbClr val="1B4332"/>
          </a:solidFill>
          <a:ln/>
        </p:spPr>
        <p:txBody>
          <a:bodyPr/>
          <a:lstStyle/>
          <a:p>
            <a:endParaRPr lang="en-GB"/>
          </a:p>
        </p:txBody>
      </p:sp>
      <p:sp>
        <p:nvSpPr>
          <p:cNvPr id="3" name="Text 1"/>
          <p:cNvSpPr txBox="1"/>
          <p:nvPr/>
        </p:nvSpPr>
        <p:spPr>
          <a:xfrm>
            <a:off x="548640" y="502920"/>
            <a:ext cx="2011680" cy="32918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LOOKING AHEAD</a:t>
            </a:r>
            <a:endParaRPr lang="en-US" sz="1100" dirty="0"/>
          </a:p>
        </p:txBody>
      </p:sp>
      <p:sp>
        <p:nvSpPr>
          <p:cNvPr id="4" name="Text 2"/>
          <p:cNvSpPr txBox="1"/>
          <p:nvPr/>
        </p:nvSpPr>
        <p:spPr>
          <a:xfrm>
            <a:off x="548640" y="960120"/>
            <a:ext cx="9144000" cy="640080"/>
          </a:xfrm>
          <a:prstGeom prst="rect">
            <a:avLst/>
          </a:prstGeom>
          <a:noFill/>
          <a:ln/>
        </p:spPr>
        <p:txBody>
          <a:bodyPr wrap="square" lIns="0" tIns="0" rIns="0" bIns="0" rtlCol="0" anchor="ctr"/>
          <a:lstStyle/>
          <a:p>
            <a:pPr marL="0" indent="0">
              <a:buNone/>
            </a:pPr>
            <a:r>
              <a:rPr lang="en-US" sz="3000" b="1" dirty="0">
                <a:solidFill>
                  <a:srgbClr val="1B4332"/>
                </a:solidFill>
                <a:latin typeface="Cambria" pitchFamily="34" charset="0"/>
                <a:ea typeface="Cambria" pitchFamily="34" charset="-122"/>
                <a:cs typeface="Cambria" pitchFamily="34" charset="-120"/>
              </a:rPr>
              <a:t>Expected Impact &amp; Next Steps</a:t>
            </a:r>
            <a:endParaRPr lang="en-US" sz="3000" dirty="0"/>
          </a:p>
        </p:txBody>
      </p:sp>
      <p:sp>
        <p:nvSpPr>
          <p:cNvPr id="5" name="Text 3"/>
          <p:cNvSpPr txBox="1"/>
          <p:nvPr/>
        </p:nvSpPr>
        <p:spPr>
          <a:xfrm>
            <a:off x="534508" y="1709096"/>
            <a:ext cx="5303520" cy="320040"/>
          </a:xfrm>
          <a:prstGeom prst="rect">
            <a:avLst/>
          </a:prstGeom>
          <a:noFill/>
          <a:ln/>
        </p:spPr>
        <p:txBody>
          <a:bodyPr wrap="square" lIns="0" tIns="0" rIns="0" bIns="0" rtlCol="0" anchor="ctr"/>
          <a:lstStyle/>
          <a:p>
            <a:pPr marL="0" indent="0">
              <a:buNone/>
            </a:pPr>
            <a:r>
              <a:rPr lang="en-US" sz="1200" b="1" kern="0" spc="100" dirty="0">
                <a:solidFill>
                  <a:srgbClr val="52796F"/>
                </a:solidFill>
                <a:latin typeface="Calibri" pitchFamily="34" charset="0"/>
                <a:ea typeface="Calibri" pitchFamily="34" charset="-122"/>
                <a:cs typeface="Calibri" pitchFamily="34" charset="-120"/>
              </a:rPr>
              <a:t>IF ACTIONED</a:t>
            </a:r>
            <a:endParaRPr lang="en-US" sz="1200" dirty="0"/>
          </a:p>
        </p:txBody>
      </p:sp>
      <p:sp>
        <p:nvSpPr>
          <p:cNvPr id="6" name="Shape 4"/>
          <p:cNvSpPr/>
          <p:nvPr/>
        </p:nvSpPr>
        <p:spPr>
          <a:xfrm>
            <a:off x="548640" y="2194560"/>
            <a:ext cx="109728" cy="109728"/>
          </a:xfrm>
          <a:prstGeom prst="ellipse">
            <a:avLst/>
          </a:prstGeom>
          <a:solidFill>
            <a:srgbClr val="D9A441"/>
          </a:solidFill>
          <a:ln/>
        </p:spPr>
        <p:txBody>
          <a:bodyPr/>
          <a:lstStyle/>
          <a:p>
            <a:endParaRPr lang="en-GB"/>
          </a:p>
        </p:txBody>
      </p:sp>
      <p:sp>
        <p:nvSpPr>
          <p:cNvPr id="7" name="Text 5"/>
          <p:cNvSpPr txBox="1"/>
          <p:nvPr/>
        </p:nvSpPr>
        <p:spPr>
          <a:xfrm>
            <a:off x="822960" y="2138033"/>
            <a:ext cx="5029200" cy="365760"/>
          </a:xfrm>
          <a:prstGeom prst="rect">
            <a:avLst/>
          </a:prstGeom>
          <a:noFill/>
          <a:ln/>
        </p:spPr>
        <p:txBody>
          <a:bodyPr wrap="square" lIns="0" tIns="0" rIns="0" bIns="0" rtlCol="0" anchor="t"/>
          <a:lstStyle/>
          <a:p>
            <a:pPr marL="0" indent="0">
              <a:buNone/>
            </a:pPr>
            <a:r>
              <a:rPr lang="en-US" sz="1350" dirty="0">
                <a:solidFill>
                  <a:srgbClr val="1B1B1B"/>
                </a:solidFill>
                <a:latin typeface="Calibri" pitchFamily="34" charset="0"/>
                <a:ea typeface="Calibri" pitchFamily="34" charset="-122"/>
                <a:cs typeface="Calibri" pitchFamily="34" charset="-120"/>
              </a:rPr>
              <a:t>Fixing Warehouse 2 to tackles the biggest source of delays.</a:t>
            </a:r>
            <a:endParaRPr lang="en-US" sz="1350" dirty="0"/>
          </a:p>
        </p:txBody>
      </p:sp>
      <p:sp>
        <p:nvSpPr>
          <p:cNvPr id="8" name="Shape 6"/>
          <p:cNvSpPr/>
          <p:nvPr/>
        </p:nvSpPr>
        <p:spPr>
          <a:xfrm>
            <a:off x="534508" y="2711507"/>
            <a:ext cx="109728" cy="109728"/>
          </a:xfrm>
          <a:prstGeom prst="ellipse">
            <a:avLst/>
          </a:prstGeom>
          <a:solidFill>
            <a:srgbClr val="D9A441"/>
          </a:solidFill>
          <a:ln/>
        </p:spPr>
        <p:txBody>
          <a:bodyPr/>
          <a:lstStyle/>
          <a:p>
            <a:endParaRPr lang="en-GB"/>
          </a:p>
        </p:txBody>
      </p:sp>
      <p:sp>
        <p:nvSpPr>
          <p:cNvPr id="9" name="Text 7"/>
          <p:cNvSpPr txBox="1"/>
          <p:nvPr/>
        </p:nvSpPr>
        <p:spPr>
          <a:xfrm>
            <a:off x="822960" y="2651760"/>
            <a:ext cx="5029200" cy="365760"/>
          </a:xfrm>
          <a:prstGeom prst="rect">
            <a:avLst/>
          </a:prstGeom>
          <a:noFill/>
          <a:ln/>
        </p:spPr>
        <p:txBody>
          <a:bodyPr wrap="square" lIns="0" tIns="0" rIns="0" bIns="0" rtlCol="0" anchor="t"/>
          <a:lstStyle/>
          <a:p>
            <a:pPr marL="0" indent="0">
              <a:buNone/>
            </a:pPr>
            <a:r>
              <a:rPr lang="en-US" sz="1350" dirty="0">
                <a:solidFill>
                  <a:srgbClr val="1B1B1B"/>
                </a:solidFill>
                <a:latin typeface="Calibri" pitchFamily="34" charset="0"/>
                <a:ea typeface="Calibri" pitchFamily="34" charset="-122"/>
                <a:cs typeface="Calibri" pitchFamily="34" charset="-120"/>
              </a:rPr>
              <a:t>Shifting some Road shipments to Sea to cuts costs with little added risk.</a:t>
            </a:r>
            <a:endParaRPr lang="en-US" sz="1350" dirty="0"/>
          </a:p>
        </p:txBody>
      </p:sp>
      <p:sp>
        <p:nvSpPr>
          <p:cNvPr id="10" name="Shape 8"/>
          <p:cNvSpPr/>
          <p:nvPr/>
        </p:nvSpPr>
        <p:spPr>
          <a:xfrm>
            <a:off x="534508" y="3338183"/>
            <a:ext cx="109728" cy="109728"/>
          </a:xfrm>
          <a:prstGeom prst="ellipse">
            <a:avLst/>
          </a:prstGeom>
          <a:solidFill>
            <a:srgbClr val="D9A441"/>
          </a:solidFill>
          <a:ln/>
        </p:spPr>
        <p:txBody>
          <a:bodyPr/>
          <a:lstStyle/>
          <a:p>
            <a:endParaRPr lang="en-GB"/>
          </a:p>
        </p:txBody>
      </p:sp>
      <p:sp>
        <p:nvSpPr>
          <p:cNvPr id="11" name="Text 9"/>
          <p:cNvSpPr txBox="1"/>
          <p:nvPr/>
        </p:nvSpPr>
        <p:spPr>
          <a:xfrm>
            <a:off x="822960" y="3287268"/>
            <a:ext cx="5029200" cy="365760"/>
          </a:xfrm>
          <a:prstGeom prst="rect">
            <a:avLst/>
          </a:prstGeom>
          <a:noFill/>
          <a:ln/>
        </p:spPr>
        <p:txBody>
          <a:bodyPr wrap="square" lIns="0" tIns="0" rIns="0" bIns="0" rtlCol="0" anchor="t"/>
          <a:lstStyle/>
          <a:p>
            <a:pPr marL="0" indent="0">
              <a:buNone/>
            </a:pPr>
            <a:r>
              <a:rPr lang="en-US" sz="1350" dirty="0">
                <a:solidFill>
                  <a:srgbClr val="1B1B1B"/>
                </a:solidFill>
                <a:latin typeface="Calibri" pitchFamily="34" charset="0"/>
                <a:ea typeface="Calibri" pitchFamily="34" charset="-122"/>
                <a:cs typeface="Calibri" pitchFamily="34" charset="-120"/>
              </a:rPr>
              <a:t>Holding weak suppliers and partners accountable reduces reliance on unreliable ones.</a:t>
            </a:r>
            <a:endParaRPr lang="en-US" sz="1350" dirty="0"/>
          </a:p>
        </p:txBody>
      </p:sp>
      <p:sp>
        <p:nvSpPr>
          <p:cNvPr id="12" name="Shape 10"/>
          <p:cNvSpPr/>
          <p:nvPr/>
        </p:nvSpPr>
        <p:spPr>
          <a:xfrm>
            <a:off x="554043" y="4076977"/>
            <a:ext cx="109728" cy="109728"/>
          </a:xfrm>
          <a:prstGeom prst="ellipse">
            <a:avLst/>
          </a:prstGeom>
          <a:solidFill>
            <a:srgbClr val="D9A441"/>
          </a:solidFill>
          <a:ln/>
        </p:spPr>
        <p:txBody>
          <a:bodyPr/>
          <a:lstStyle/>
          <a:p>
            <a:endParaRPr lang="en-GB"/>
          </a:p>
        </p:txBody>
      </p:sp>
      <p:sp>
        <p:nvSpPr>
          <p:cNvPr id="13" name="Text 11"/>
          <p:cNvSpPr txBox="1"/>
          <p:nvPr/>
        </p:nvSpPr>
        <p:spPr>
          <a:xfrm>
            <a:off x="822960" y="4024607"/>
            <a:ext cx="5029200" cy="365760"/>
          </a:xfrm>
          <a:prstGeom prst="rect">
            <a:avLst/>
          </a:prstGeom>
          <a:noFill/>
          <a:ln/>
        </p:spPr>
        <p:txBody>
          <a:bodyPr wrap="square" lIns="0" tIns="0" rIns="0" bIns="0" rtlCol="0" anchor="t"/>
          <a:lstStyle/>
          <a:p>
            <a:pPr marL="0" indent="0">
              <a:buNone/>
            </a:pPr>
            <a:r>
              <a:rPr lang="en-US" sz="1350" dirty="0">
                <a:solidFill>
                  <a:srgbClr val="1B1B1B"/>
                </a:solidFill>
                <a:latin typeface="Calibri" pitchFamily="34" charset="0"/>
                <a:ea typeface="Calibri" pitchFamily="34" charset="-122"/>
                <a:cs typeface="Calibri" pitchFamily="34" charset="-120"/>
              </a:rPr>
              <a:t>Both dashboard pages filter together automatically.</a:t>
            </a:r>
            <a:endParaRPr lang="en-US" sz="1350" dirty="0"/>
          </a:p>
        </p:txBody>
      </p:sp>
      <p:sp>
        <p:nvSpPr>
          <p:cNvPr id="14" name="Shape 12"/>
          <p:cNvSpPr/>
          <p:nvPr/>
        </p:nvSpPr>
        <p:spPr>
          <a:xfrm>
            <a:off x="6263640" y="1783080"/>
            <a:ext cx="5349240" cy="3931920"/>
          </a:xfrm>
          <a:prstGeom prst="roundRect">
            <a:avLst>
              <a:gd name="adj" fmla="val 1860"/>
            </a:avLst>
          </a:prstGeom>
          <a:solidFill>
            <a:srgbClr val="1B4332"/>
          </a:solidFill>
          <a:ln/>
        </p:spPr>
        <p:txBody>
          <a:bodyPr/>
          <a:lstStyle/>
          <a:p>
            <a:endParaRPr lang="en-GB"/>
          </a:p>
        </p:txBody>
      </p:sp>
      <p:sp>
        <p:nvSpPr>
          <p:cNvPr id="15" name="Text 13"/>
          <p:cNvSpPr txBox="1"/>
          <p:nvPr/>
        </p:nvSpPr>
        <p:spPr>
          <a:xfrm>
            <a:off x="6583680" y="2057400"/>
            <a:ext cx="4709160" cy="365760"/>
          </a:xfrm>
          <a:prstGeom prst="rect">
            <a:avLst/>
          </a:prstGeom>
          <a:noFill/>
          <a:ln/>
        </p:spPr>
        <p:txBody>
          <a:bodyPr wrap="square" lIns="0" tIns="0" rIns="0" bIns="0" rtlCol="0" anchor="ctr"/>
          <a:lstStyle/>
          <a:p>
            <a:pPr marL="0" indent="0">
              <a:buNone/>
            </a:pPr>
            <a:r>
              <a:rPr lang="en-US" sz="1300" b="1" kern="0" spc="100" dirty="0">
                <a:solidFill>
                  <a:srgbClr val="D9A441"/>
                </a:solidFill>
                <a:latin typeface="Calibri" pitchFamily="34" charset="0"/>
                <a:ea typeface="Calibri" pitchFamily="34" charset="-122"/>
                <a:cs typeface="Calibri" pitchFamily="34" charset="-120"/>
              </a:rPr>
              <a:t>NEXT STEPS</a:t>
            </a:r>
            <a:endParaRPr lang="en-US" sz="1300" dirty="0"/>
          </a:p>
        </p:txBody>
      </p:sp>
      <p:sp>
        <p:nvSpPr>
          <p:cNvPr id="16" name="Text 14"/>
          <p:cNvSpPr txBox="1"/>
          <p:nvPr/>
        </p:nvSpPr>
        <p:spPr>
          <a:xfrm>
            <a:off x="6567055" y="2893660"/>
            <a:ext cx="365760" cy="365760"/>
          </a:xfrm>
          <a:prstGeom prst="rect">
            <a:avLst/>
          </a:prstGeom>
          <a:noFill/>
          <a:ln/>
        </p:spPr>
        <p:txBody>
          <a:bodyPr wrap="square" lIns="0" tIns="0" rIns="0" bIns="0" rtlCol="0" anchor="ctr"/>
          <a:lstStyle/>
          <a:p>
            <a:pPr marL="0" indent="0">
              <a:buNone/>
            </a:pPr>
            <a:r>
              <a:rPr lang="en-US" sz="1500" b="1" dirty="0">
                <a:solidFill>
                  <a:srgbClr val="D9A441"/>
                </a:solidFill>
                <a:latin typeface="Cambria" pitchFamily="34" charset="0"/>
                <a:ea typeface="Cambria" pitchFamily="34" charset="-122"/>
                <a:cs typeface="Cambria" pitchFamily="34" charset="-120"/>
              </a:rPr>
              <a:t>1</a:t>
            </a:r>
            <a:endParaRPr lang="en-US" sz="1500" dirty="0"/>
          </a:p>
        </p:txBody>
      </p:sp>
      <p:sp>
        <p:nvSpPr>
          <p:cNvPr id="17" name="Text 15"/>
          <p:cNvSpPr txBox="1"/>
          <p:nvPr/>
        </p:nvSpPr>
        <p:spPr>
          <a:xfrm>
            <a:off x="6995160" y="2724912"/>
            <a:ext cx="4297680" cy="822960"/>
          </a:xfrm>
          <a:prstGeom prst="rect">
            <a:avLst/>
          </a:prstGeom>
          <a:noFill/>
          <a:ln/>
        </p:spPr>
        <p:txBody>
          <a:bodyPr wrap="square" lIns="0" tIns="0" rIns="0" bIns="0" rtlCol="0" anchor="ctr"/>
          <a:lstStyle/>
          <a:p>
            <a:pPr marL="0" indent="0">
              <a:lnSpc>
                <a:spcPct val="125000"/>
              </a:lnSpc>
              <a:buNone/>
            </a:pPr>
            <a:r>
              <a:rPr lang="en-US" sz="1300" dirty="0">
                <a:solidFill>
                  <a:srgbClr val="E8EFEC"/>
                </a:solidFill>
                <a:latin typeface="Calibri" pitchFamily="34" charset="0"/>
                <a:ea typeface="Calibri" pitchFamily="34" charset="-122"/>
                <a:cs typeface="Calibri" pitchFamily="34" charset="-120"/>
              </a:rPr>
              <a:t>Collect delay-cause detail (e.g. reason codes) to move from correlation to root cause</a:t>
            </a:r>
            <a:endParaRPr lang="en-US" sz="1300" dirty="0"/>
          </a:p>
        </p:txBody>
      </p:sp>
      <p:sp>
        <p:nvSpPr>
          <p:cNvPr id="18" name="Text 16"/>
          <p:cNvSpPr txBox="1"/>
          <p:nvPr/>
        </p:nvSpPr>
        <p:spPr>
          <a:xfrm>
            <a:off x="6583680" y="3862509"/>
            <a:ext cx="365760" cy="365760"/>
          </a:xfrm>
          <a:prstGeom prst="rect">
            <a:avLst/>
          </a:prstGeom>
          <a:noFill/>
          <a:ln/>
        </p:spPr>
        <p:txBody>
          <a:bodyPr wrap="square" lIns="0" tIns="0" rIns="0" bIns="0" rtlCol="0" anchor="ctr"/>
          <a:lstStyle/>
          <a:p>
            <a:pPr marL="0" indent="0">
              <a:buNone/>
            </a:pPr>
            <a:r>
              <a:rPr lang="en-US" sz="1500" b="1" dirty="0">
                <a:solidFill>
                  <a:srgbClr val="D9A441"/>
                </a:solidFill>
                <a:latin typeface="Cambria" pitchFamily="34" charset="0"/>
                <a:ea typeface="Cambria" pitchFamily="34" charset="-122"/>
                <a:cs typeface="Cambria" pitchFamily="34" charset="-120"/>
              </a:rPr>
              <a:t>2</a:t>
            </a:r>
            <a:endParaRPr lang="en-US" sz="1500" dirty="0"/>
          </a:p>
        </p:txBody>
      </p:sp>
      <p:sp>
        <p:nvSpPr>
          <p:cNvPr id="19" name="Text 17"/>
          <p:cNvSpPr txBox="1"/>
          <p:nvPr/>
        </p:nvSpPr>
        <p:spPr>
          <a:xfrm>
            <a:off x="6995160" y="3685032"/>
            <a:ext cx="4297680" cy="822960"/>
          </a:xfrm>
          <a:prstGeom prst="rect">
            <a:avLst/>
          </a:prstGeom>
          <a:noFill/>
          <a:ln/>
        </p:spPr>
        <p:txBody>
          <a:bodyPr wrap="square" lIns="0" tIns="0" rIns="0" bIns="0" rtlCol="0" anchor="ctr"/>
          <a:lstStyle/>
          <a:p>
            <a:pPr marL="0" indent="0">
              <a:lnSpc>
                <a:spcPct val="125000"/>
              </a:lnSpc>
              <a:buNone/>
            </a:pPr>
            <a:r>
              <a:rPr lang="en-US" sz="1300" dirty="0">
                <a:solidFill>
                  <a:srgbClr val="E8EFEC"/>
                </a:solidFill>
                <a:latin typeface="Calibri" pitchFamily="34" charset="0"/>
                <a:ea typeface="Calibri" pitchFamily="34" charset="-122"/>
                <a:cs typeface="Calibri" pitchFamily="34" charset="-120"/>
              </a:rPr>
              <a:t>Introduce quarterly supplier and logistics-partner scorecards tied to the metrics in this dashboard</a:t>
            </a:r>
            <a:endParaRPr lang="en-US" sz="1300" dirty="0"/>
          </a:p>
        </p:txBody>
      </p:sp>
      <p:sp>
        <p:nvSpPr>
          <p:cNvPr id="20" name="Text 18"/>
          <p:cNvSpPr txBox="1"/>
          <p:nvPr/>
        </p:nvSpPr>
        <p:spPr>
          <a:xfrm>
            <a:off x="6583680" y="4791456"/>
            <a:ext cx="365760" cy="365760"/>
          </a:xfrm>
          <a:prstGeom prst="rect">
            <a:avLst/>
          </a:prstGeom>
          <a:noFill/>
          <a:ln/>
        </p:spPr>
        <p:txBody>
          <a:bodyPr wrap="square" lIns="0" tIns="0" rIns="0" bIns="0" rtlCol="0" anchor="ctr"/>
          <a:lstStyle/>
          <a:p>
            <a:pPr marL="0" indent="0">
              <a:buNone/>
            </a:pPr>
            <a:r>
              <a:rPr lang="en-US" sz="1500" b="1" dirty="0">
                <a:solidFill>
                  <a:srgbClr val="D9A441"/>
                </a:solidFill>
                <a:latin typeface="Cambria" pitchFamily="34" charset="0"/>
                <a:ea typeface="Cambria" pitchFamily="34" charset="-122"/>
                <a:cs typeface="Cambria" pitchFamily="34" charset="-120"/>
              </a:rPr>
              <a:t>3</a:t>
            </a:r>
            <a:endParaRPr lang="en-US" sz="1500" dirty="0"/>
          </a:p>
        </p:txBody>
      </p:sp>
      <p:sp>
        <p:nvSpPr>
          <p:cNvPr id="21" name="Text 19"/>
          <p:cNvSpPr txBox="1"/>
          <p:nvPr/>
        </p:nvSpPr>
        <p:spPr>
          <a:xfrm>
            <a:off x="6995160" y="4645152"/>
            <a:ext cx="4297680" cy="822960"/>
          </a:xfrm>
          <a:prstGeom prst="rect">
            <a:avLst/>
          </a:prstGeom>
          <a:noFill/>
          <a:ln/>
        </p:spPr>
        <p:txBody>
          <a:bodyPr wrap="square" lIns="0" tIns="0" rIns="0" bIns="0" rtlCol="0" anchor="ctr"/>
          <a:lstStyle/>
          <a:p>
            <a:pPr marL="0" indent="0">
              <a:lnSpc>
                <a:spcPct val="125000"/>
              </a:lnSpc>
              <a:buNone/>
            </a:pPr>
            <a:r>
              <a:rPr lang="en-US" sz="1300" dirty="0">
                <a:solidFill>
                  <a:srgbClr val="E8EFEC"/>
                </a:solidFill>
                <a:latin typeface="Calibri" pitchFamily="34" charset="0"/>
                <a:ea typeface="Calibri" pitchFamily="34" charset="-122"/>
                <a:cs typeface="Calibri" pitchFamily="34" charset="-120"/>
              </a:rPr>
              <a:t>Re-run this analysis next quarter to track whether Warehouse 2 and FastTrans trends improve</a:t>
            </a:r>
            <a:endParaRPr lang="en-US" sz="1300" dirty="0"/>
          </a:p>
        </p:txBody>
      </p:sp>
      <p:sp>
        <p:nvSpPr>
          <p:cNvPr id="22" name="Text 20"/>
          <p:cNvSpPr txBox="1"/>
          <p:nvPr/>
        </p:nvSpPr>
        <p:spPr>
          <a:xfrm>
            <a:off x="457200" y="6473952"/>
            <a:ext cx="82296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LogiTrack Global · Supply Chain &amp; Logistics Performance Analysis</a:t>
            </a:r>
            <a:endParaRPr lang="en-US" sz="900" dirty="0"/>
          </a:p>
        </p:txBody>
      </p:sp>
      <p:sp>
        <p:nvSpPr>
          <p:cNvPr id="23" name="Text 21"/>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4332"/>
        </a:solidFill>
        <a:effectLst/>
      </p:bgPr>
    </p:bg>
    <p:spTree>
      <p:nvGrpSpPr>
        <p:cNvPr id="1" name=""/>
        <p:cNvGrpSpPr/>
        <p:nvPr/>
      </p:nvGrpSpPr>
      <p:grpSpPr>
        <a:xfrm>
          <a:off x="0" y="0"/>
          <a:ext cx="0" cy="0"/>
          <a:chOff x="0" y="0"/>
          <a:chExt cx="0" cy="0"/>
        </a:xfrm>
      </p:grpSpPr>
      <p:sp>
        <p:nvSpPr>
          <p:cNvPr id="8" name="Text 6"/>
          <p:cNvSpPr txBox="1"/>
          <p:nvPr/>
        </p:nvSpPr>
        <p:spPr>
          <a:xfrm>
            <a:off x="822960" y="2286000"/>
            <a:ext cx="8229600"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9" name="Text 7"/>
          <p:cNvSpPr txBox="1"/>
          <p:nvPr/>
        </p:nvSpPr>
        <p:spPr>
          <a:xfrm>
            <a:off x="822960" y="3200400"/>
            <a:ext cx="8229600" cy="457200"/>
          </a:xfrm>
          <a:prstGeom prst="rect">
            <a:avLst/>
          </a:prstGeom>
          <a:noFill/>
          <a:ln/>
        </p:spPr>
        <p:txBody>
          <a:bodyPr wrap="square" lIns="0" tIns="0" rIns="0" bIns="0" rtlCol="0" anchor="ctr"/>
          <a:lstStyle/>
          <a:p>
            <a:pPr marL="0" indent="0">
              <a:buNone/>
            </a:pPr>
            <a:r>
              <a:rPr lang="en-US" sz="1600" i="1" dirty="0">
                <a:solidFill>
                  <a:srgbClr val="CAD2C5"/>
                </a:solidFill>
                <a:latin typeface="Calibri" pitchFamily="34" charset="0"/>
                <a:ea typeface="Calibri" pitchFamily="34" charset="-122"/>
                <a:cs typeface="Calibri" pitchFamily="34" charset="-120"/>
              </a:rPr>
              <a:t>Questions &amp; discussion welcome.</a:t>
            </a:r>
            <a:endParaRPr lang="en-US" sz="1600" dirty="0"/>
          </a:p>
        </p:txBody>
      </p:sp>
      <p:sp>
        <p:nvSpPr>
          <p:cNvPr id="10" name="Shape 8"/>
          <p:cNvSpPr/>
          <p:nvPr/>
        </p:nvSpPr>
        <p:spPr>
          <a:xfrm>
            <a:off x="822960" y="3931920"/>
            <a:ext cx="2011680" cy="0"/>
          </a:xfrm>
          <a:prstGeom prst="line">
            <a:avLst/>
          </a:prstGeom>
          <a:noFill/>
          <a:ln w="19050">
            <a:solidFill>
              <a:srgbClr val="52796F"/>
            </a:solidFill>
            <a:prstDash val="solid"/>
          </a:ln>
        </p:spPr>
        <p:txBody>
          <a:bodyPr/>
          <a:lstStyle/>
          <a:p>
            <a:endParaRPr lang="en-GB"/>
          </a:p>
        </p:txBody>
      </p:sp>
      <p:sp>
        <p:nvSpPr>
          <p:cNvPr id="11" name="Text 9"/>
          <p:cNvSpPr txBox="1"/>
          <p:nvPr/>
        </p:nvSpPr>
        <p:spPr>
          <a:xfrm>
            <a:off x="822960" y="4069080"/>
            <a:ext cx="548640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Moses Ariyo</a:t>
            </a:r>
            <a:endParaRPr lang="en-US" sz="1500" dirty="0"/>
          </a:p>
        </p:txBody>
      </p:sp>
      <p:sp>
        <p:nvSpPr>
          <p:cNvPr id="12" name="Text 10"/>
          <p:cNvSpPr txBox="1"/>
          <p:nvPr/>
        </p:nvSpPr>
        <p:spPr>
          <a:xfrm>
            <a:off x="822960" y="4389120"/>
            <a:ext cx="5486400" cy="320040"/>
          </a:xfrm>
          <a:prstGeom prst="rect">
            <a:avLst/>
          </a:prstGeom>
          <a:noFill/>
          <a:ln/>
        </p:spPr>
        <p:txBody>
          <a:bodyPr wrap="square" lIns="0" tIns="0" rIns="0" bIns="0" rtlCol="0" anchor="ctr"/>
          <a:lstStyle/>
          <a:p>
            <a:pPr marL="0" indent="0">
              <a:buNone/>
            </a:pPr>
            <a:r>
              <a:rPr lang="en-US" sz="1200" dirty="0">
                <a:solidFill>
                  <a:srgbClr val="CAD2C5"/>
                </a:solidFill>
                <a:latin typeface="Calibri" pitchFamily="34" charset="0"/>
                <a:ea typeface="Calibri" pitchFamily="34" charset="-122"/>
                <a:cs typeface="Calibri" pitchFamily="34" charset="-120"/>
              </a:rPr>
              <a:t>Data Analyst  ·  Glasgow, Scotland</a:t>
            </a:r>
            <a:endParaRPr lang="en-US" sz="1200" dirty="0"/>
          </a:p>
        </p:txBody>
      </p:sp>
      <p:sp>
        <p:nvSpPr>
          <p:cNvPr id="13" name="Text 11"/>
          <p:cNvSpPr txBox="1"/>
          <p:nvPr/>
        </p:nvSpPr>
        <p:spPr>
          <a:xfrm>
            <a:off x="822960" y="4709160"/>
            <a:ext cx="5486400" cy="320040"/>
          </a:xfrm>
          <a:prstGeom prst="rect">
            <a:avLst/>
          </a:prstGeom>
          <a:noFill/>
          <a:ln/>
        </p:spPr>
        <p:txBody>
          <a:bodyPr wrap="square" lIns="0" tIns="0" rIns="0" bIns="0" rtlCol="0" anchor="ctr"/>
          <a:lstStyle/>
          <a:p>
            <a:pPr marL="0" indent="0">
              <a:buNone/>
            </a:pPr>
            <a:r>
              <a:rPr lang="en-US" sz="1200" dirty="0">
                <a:solidFill>
                  <a:srgbClr val="CAD2C5"/>
                </a:solidFill>
                <a:latin typeface="Calibri" pitchFamily="34" charset="0"/>
                <a:ea typeface="Calibri" pitchFamily="34" charset="-122"/>
                <a:cs typeface="Calibri" pitchFamily="34" charset="-120"/>
              </a:rPr>
              <a:t>Portfolio: LinkedIn &amp; GitHub</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912</Words>
  <Application>Microsoft Office PowerPoint</Application>
  <PresentationFormat>Widescreen</PresentationFormat>
  <Paragraphs>118</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Moses Ariyo</cp:lastModifiedBy>
  <cp:revision>3</cp:revision>
  <dcterms:created xsi:type="dcterms:W3CDTF">2026-09-21T00:14:23Z</dcterms:created>
  <dcterms:modified xsi:type="dcterms:W3CDTF">2026-09-21T00:34:28Z</dcterms:modified>
</cp:coreProperties>
</file>